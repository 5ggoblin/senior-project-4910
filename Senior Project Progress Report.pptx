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each phase from the proposal roadmap stands. Planning and data collection are complete. Data cleaning is nearly complete. For algorithm implementation, most of our time went into researching how to run persistent homology on a dataset this large, and the Gower distance and persistent homology procedures are now defined. Tuning has not started. The web app research and mockup are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dataset has 70,823 records and 78 columns. Filtering to vehicles introduced from 2000 to 2020 left 34,699. After cleaning, the dataset is about 30,000 vehicles and 50 mixed-type features. Identifier columns and administrative fields are kept separately so they can be used to label results and in the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of cleaning sets the row scope and fixes types. Many numeric columns were stored as text because empty values were empty strings instead of NA. After replacing those with NA, the columns can be converted to numeric. Categorical columns are converted to factors so Gower's distance treats them as categorical. Some fields, such as range, hold two values in one cell and need their own parsing rule. Identifier columns are moved to a lookup table so they are not part of the distance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of cleaning decides which columns and rows stay. Columns with a high share of missing values are dropped, using a cutoff between 40 and 60 percent. Several columns record the same measurement under two names, so we keep the better-populated one. Rows with very few filled specs are dropped because their distances would be unreliable. Because the data is scraped, we spot-check values for entry errors. The final feature set contains design variables only; administrative fields are kept as metadata for the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compute the full Gower distance matrix once. Inputs are encoded with fixed types and the row order is locked so each row matches the ID lookup table. Ranges for scaling come from all 30,000 rows. The matrix is about 3.6 gigabytes in 32-bit floats, so it is stored on disk as a memory map. It is computed in row blocks, and because the matrix is symmetric we only compute blocks on or above the diagonal. Each finished block is logged so a crash does not mean starting over. We will time one block first to estimate the total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using the matrix, we check that it is symmetric, has a zero diagonal, has values between zero and one, and has no missing values. We compare one random block against the gower package to catch bugs, and spot-check that similar vehicles are close and very different vehicles are far apart. A histogram of distances shows whether one feature dominates. Gower skips features that are missing in either vehicle, so we also count how many features each pair shares and report pairs that share very few. Everything needed to reproduce the matrix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our time this semester went into finding a way to compute persistent homology on a dataset of this size. A Vietoris–Rips filtration on 30,000 points grows combinatorially, so exact PH is not practical even for dimensions zero and one. Cao and Monod show that averaging PH over many small random subsamples approximates the PH of the full dataset, and they prove how fast the approximation improves. The error has two parts: variance, which shrinks as the number of subsamples B grows, and bias, which shrinks as the subsample size n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offers three ways to average the subsample diagrams. Vectorizations have the strongest theory but are hard to read directly. The mean persistence measure has a convergence result that covers our exact setting, a Vietoris–Rips filtration on a finite dataset, and it is shown as a heatmap. The Fréchet mean gives an actual diagram but has no proven variance rate. In the paper's experiments the mean persistence measure was more accurate and more robust to noise. The paper also tested the method on finite metric spaces with non-Euclidean distances, which is closest to our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compute the full Gower matrix once and run Vietoris–Rips persistent homology on submatrices sliced from it. Computing Gower separately for each subsample would give inconsistent distances, because Gower scales by each column's range. We use Ripser with a precomputed distance matrix and compute dimensions zero and one. Our main result will be the mean persistence measure, because its convergence theorem matches our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Fréchet mean gives a diagram that is easier to read, so we will use it as a companion figure, mainly for loops. We use a Wasserstein exponent of 2. The subsample size will be set by a timing test on our own data, since the paper's timings are on Euclidean data. The number of subsamples is not fixed in advance; we add subsamples until the average stops changing, with a minimum of 20. We will not cite the paper's convergence rates as guarantees for our data, because its proofs assume Euclidean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leaving out the parts of the paper that apply to continuous shapes or to comparing groups of diagrams. Vectorizations could be a later extension, for example testing whether sedans and SUVs have different topology. We do not subsample for Mapper, because Mapper needs every individual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a timing test on our data to choose the subsample size. We fix and record all settings, including the random seed. Each subsample is drawn uniformly at random without replacement. For each subsample we slice the rows and columns from the full matrix, run Ripser, drop the one infinite bar in dimension zero, and save the diagrams. Subsamples are independent, so they can run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adding subsamples until the mean persistence measure stops changing between steps, and we require at least 20 so that one small change by chance does not end the run. The paper measures that change with an optimal transport distance; a simpler option is to bin the measure on a fixed grid. The main output is the mean persistence measure as a heatmap, with a Fréchet mean diagram for loops. We rerun with a different seed and a different subsample size to check stability. For H0 we look at where death times concentrate. For H1 we report any loops far from the diagonal, or that there are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homology is not the final product. Its role is to describe the overall shape of the vehicle data and to inform the Mapper step. Both steps use the same Gower matrix. Persistent homology runs on subsamples. Mapper runs on all 30,000 vehicles. The distances at which clusters merge in dimension zero give candidate values for the DBSCAN radius epsilon used inside Mapper. Any loops found in dimension one are compared against the Mapper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rest on four assumptions. The paper's proofs assume Euclidean distances, and ours are Gower distances, so we rely on the paper's experiments rather than its proofs. Uniform sampling rarely picks unusual vehicles, so small structures may not show up in persistent homology, although Mapper still uses every vehicle. Pairs of vehicles that share few filled-in features have less reliable distances. And we assume no part of the data is extremely sparse, without checking this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the web application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steps follow this order: finish cleaning, compute the Gower matrix, validate it, then run persistent homology with subsampling, check robustness, and pass the candidate epsilon values to Mapper. The timeline is the same as in the proposal. November and December cover the distance matrix and the first persistence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330200"/>
            <a:ext cx="10972800" cy="502920"/>
          </a:xfrm>
          <a:prstGeom prst="rect">
            <a:avLst/>
          </a:prstGeom>
          <a:noFill/>
          <a:ln/>
        </p:spPr>
        <p:txBody>
          <a:bodyPr wrap="square" lIns="0" tIns="0" rIns="0" bIns="0" rtlCol="0" anchor="t"/>
          <a:lstStyle>
            <a:lvl1pPr algn="l" indent="0" marL="0">
              <a:lnSpc>
                <a:spcPct val="115000"/>
              </a:lnSpc>
              <a:buNone/>
              <a:defRPr lang="en-US" sz="3600" dirty="0">
                <a:solidFill>
                  <a:srgbClr val="003594"/>
                </a:solidFill>
                <a:latin typeface="Lato" pitchFamily="34" charset="0"/>
                <a:ea typeface="Lato" pitchFamily="34" charset="-122"/>
                <a:cs typeface="La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609600" y="1137920"/>
            <a:ext cx="10769600" cy="4907280"/>
          </a:xfrm>
          <a:prstGeom prst="rect">
            <a:avLst/>
          </a:prstGeom>
          <a:noFill/>
          <a:ln/>
        </p:spPr>
        <p:txBody>
          <a:bodyPr wrap="square" lIns="0" tIns="0" rIns="0" bIns="0" rtlCol="0" anchor="t"/>
          <a:lstStyle>
            <a:lvl1pPr algn="l" indent="0" marL="0">
              <a:lnSpc>
                <a:spcPct val="140000"/>
              </a:lnSpc>
              <a:buNone/>
              <a:defRPr lang="en-US" sz="1600" dirty="0">
                <a:solidFill>
                  <a:srgbClr val="001A70"/>
                </a:solidFill>
                <a:latin typeface="Lato" pitchFamily="34" charset="0"/>
                <a:ea typeface="Lato" pitchFamily="34" charset="-122"/>
                <a:cs typeface="La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330200"/>
            <a:ext cx="10972800" cy="502920"/>
          </a:xfrm>
          <a:prstGeom prst="rect">
            <a:avLst/>
          </a:prstGeom>
          <a:noFill/>
          <a:ln/>
        </p:spPr>
        <p:txBody>
          <a:bodyPr wrap="square" lIns="0" tIns="0" rIns="0" bIns="0" rtlCol="0" anchor="t"/>
          <a:lstStyle>
            <a:lvl1pPr algn="l" indent="0" marL="0">
              <a:lnSpc>
                <a:spcPct val="115000"/>
              </a:lnSpc>
              <a:buNone/>
              <a:defRPr lang="en-US" sz="3600" dirty="0">
                <a:solidFill>
                  <a:srgbClr val="003594"/>
                </a:solidFill>
                <a:latin typeface="Lato" pitchFamily="34" charset="0"/>
                <a:ea typeface="Lato" pitchFamily="34" charset="-122"/>
                <a:cs typeface="La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609600" y="1137920"/>
            <a:ext cx="10769600" cy="4907280"/>
          </a:xfrm>
          <a:prstGeom prst="rect">
            <a:avLst/>
          </a:prstGeom>
          <a:noFill/>
          <a:ln/>
        </p:spPr>
        <p:txBody>
          <a:bodyPr wrap="square" lIns="0" tIns="0" rIns="0" bIns="0" rtlCol="0" anchor="t"/>
          <a:lstStyle>
            <a:lvl1pPr algn="l" indent="0" marL="0">
              <a:lnSpc>
                <a:spcPct val="140000"/>
              </a:lnSpc>
              <a:buNone/>
              <a:defRPr lang="en-US" sz="1600" dirty="0">
                <a:solidFill>
                  <a:srgbClr val="001A70"/>
                </a:solidFill>
                <a:latin typeface="Lato" pitchFamily="34" charset="0"/>
                <a:ea typeface="Lato" pitchFamily="34" charset="-122"/>
                <a:cs typeface="La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594"/>
        </a:solidFill>
      </p:bgPr>
    </p:bg>
    <p:spTree>
      <p:nvGrpSpPr>
        <p:cNvPr id="1" name=""/>
        <p:cNvGrpSpPr/>
        <p:nvPr/>
      </p:nvGrpSpPr>
      <p:grpSpPr>
        <a:xfrm>
          <a:off x="0" y="0"/>
          <a:ext cx="0" cy="0"/>
          <a:chOff x="0" y="0"/>
          <a:chExt cx="0" cy="0"/>
        </a:xfrm>
      </p:grpSpPr>
      <p:sp>
        <p:nvSpPr>
          <p:cNvPr id="2" name="Text 0"/>
          <p:cNvSpPr/>
          <p:nvPr>
            <p:ph type="title"/>
          </p:nvPr>
        </p:nvSpPr>
        <p:spPr>
          <a:xfrm>
            <a:off x="863600" y="1681480"/>
            <a:ext cx="10464800" cy="1579880"/>
          </a:xfrm>
          <a:prstGeom prst="rect">
            <a:avLst/>
          </a:prstGeom>
          <a:noFill/>
          <a:ln/>
        </p:spPr>
        <p:txBody>
          <a:bodyPr wrap="square" lIns="0" tIns="0" rIns="0" bIns="0" rtlCol="0" anchor="t">
            <a:normAutofit/>
          </a:bodyPr>
          <a:lstStyle/>
          <a:p>
            <a:pPr algn="ctr" indent="0" marL="0">
              <a:lnSpc>
                <a:spcPts val="4080"/>
              </a:lnSpc>
              <a:buNone/>
            </a:pPr>
            <a:r>
              <a:rPr lang="en-US" sz="3400" b="1" i="0" dirty="0">
                <a:solidFill>
                  <a:srgbClr val="FFFFFF"/>
                </a:solidFill>
                <a:latin typeface="Lato" pitchFamily="34" charset="0"/>
                <a:ea typeface="Lato" pitchFamily="34" charset="-122"/>
                <a:cs typeface="Lato" pitchFamily="34" charset="-120"/>
              </a:rPr>
              <a:t>Topological Data Analysis of Automotive Design: Mapping High-Dimensional Vehicle Similarity with Persistent Homology and Mapper</a:t>
            </a:r>
            <a:endParaRPr lang="en-US" sz="3400" dirty="0"/>
          </a:p>
        </p:txBody>
      </p:sp>
      <p:pic>
        <p:nvPicPr>
          <p:cNvPr id="3" name="Image 0" descr="line">    </p:cNvPr>
          <p:cNvPicPr>
            <a:picLocks noChangeAspect="1"/>
          </p:cNvPicPr>
          <p:nvPr/>
        </p:nvPicPr>
        <p:blipFill>
          <a:blip r:embed="rId1"/>
          <a:srcRect l="0" r="0" t="0" b="0"/>
          <a:stretch/>
        </p:blipFill>
        <p:spPr>
          <a:xfrm>
            <a:off x="1016000" y="3413760"/>
            <a:ext cx="1778000" cy="38100"/>
          </a:xfrm>
          <a:prstGeom prst="rect">
            <a:avLst/>
          </a:prstGeom>
        </p:spPr>
      </p:pic>
      <p:sp>
        <p:nvSpPr>
          <p:cNvPr id="4" name="Text 1"/>
          <p:cNvSpPr/>
          <p:nvPr/>
        </p:nvSpPr>
        <p:spPr>
          <a:xfrm>
            <a:off x="1016000" y="3629660"/>
            <a:ext cx="1046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C72C"/>
                </a:solidFill>
                <a:latin typeface="Lato" pitchFamily="34" charset="0"/>
                <a:ea typeface="Lato" pitchFamily="34" charset="-122"/>
                <a:cs typeface="Lato" pitchFamily="34" charset="-120"/>
              </a:rPr>
              <a:t>Senior Project Progress Report</a:t>
            </a:r>
            <a:endParaRPr lang="en-US" sz="2000" dirty="0"/>
          </a:p>
        </p:txBody>
      </p:sp>
      <p:sp>
        <p:nvSpPr>
          <p:cNvPr id="5" name="Text 2"/>
          <p:cNvSpPr/>
          <p:nvPr/>
        </p:nvSpPr>
        <p:spPr>
          <a:xfrm>
            <a:off x="1016000" y="4163060"/>
            <a:ext cx="104648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Lato" pitchFamily="34" charset="0"/>
                <a:ea typeface="Lato" pitchFamily="34" charset="-122"/>
                <a:cs typeface="Lato" pitchFamily="34" charset="-120"/>
              </a:rPr>
              <a:t>Gerardo Gomez, Lesslie Valdivia, Armando Vargas</a:t>
            </a:r>
            <a:endParaRPr lang="en-US" sz="1700" dirty="0"/>
          </a:p>
        </p:txBody>
      </p:sp>
      <p:sp>
        <p:nvSpPr>
          <p:cNvPr id="6" name="Text 3"/>
          <p:cNvSpPr/>
          <p:nvPr/>
        </p:nvSpPr>
        <p:spPr>
          <a:xfrm>
            <a:off x="1016000" y="4643120"/>
            <a:ext cx="104648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FFFFF"/>
                </a:solidFill>
                <a:latin typeface="Lato" pitchFamily="34" charset="0"/>
                <a:ea typeface="Lato" pitchFamily="34" charset="-122"/>
                <a:cs typeface="Lato" pitchFamily="34" charset="-120"/>
              </a:rPr>
              <a:t>Department of Computer &amp; Electrical Engineering &amp; Computer Science</a:t>
            </a:r>
            <a:endParaRPr lang="en-US" sz="1400" dirty="0"/>
          </a:p>
          <a:p>
            <a:pPr algn="l" indent="0" marL="0">
              <a:lnSpc>
                <a:spcPts val="2100"/>
              </a:lnSpc>
              <a:buNone/>
            </a:pPr>
            <a:r>
              <a:rPr lang="en-US" sz="1400" dirty="0">
                <a:solidFill>
                  <a:srgbClr val="FFFFFF"/>
                </a:solidFill>
                <a:latin typeface="Lato" pitchFamily="34" charset="0"/>
                <a:ea typeface="Lato" pitchFamily="34" charset="-122"/>
                <a:cs typeface="Lato" pitchFamily="34" charset="-120"/>
              </a:rPr>
              <a:t>California State University, Bakersfield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Project Status</a:t>
            </a:r>
            <a:endParaRPr lang="en-US" sz="3600" dirty="0"/>
          </a:p>
        </p:txBody>
      </p:sp>
      <p:sp>
        <p:nvSpPr>
          <p:cNvPr id="6" name="Text 4"/>
          <p:cNvSpPr/>
          <p:nvPr/>
        </p:nvSpPr>
        <p:spPr>
          <a:xfrm>
            <a:off x="609600" y="960120"/>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Status of each phase from the proposal roadmap</a:t>
            </a:r>
            <a:endParaRPr lang="en-US" sz="1500" dirty="0"/>
          </a:p>
        </p:txBody>
      </p:sp>
      <p:sp>
        <p:nvSpPr>
          <p:cNvPr id="7" name="Shape 5"/>
          <p:cNvSpPr/>
          <p:nvPr/>
        </p:nvSpPr>
        <p:spPr>
          <a:xfrm>
            <a:off x="615950" y="1461770"/>
            <a:ext cx="3526353" cy="1573530"/>
          </a:xfrm>
          <a:prstGeom prst="rect">
            <a:avLst/>
          </a:prstGeom>
          <a:noFill/>
          <a:ln w="12700">
            <a:solidFill>
              <a:srgbClr val="003594"/>
            </a:solidFill>
            <a:prstDash val="solid"/>
          </a:ln>
        </p:spPr>
      </p:sp>
      <p:sp>
        <p:nvSpPr>
          <p:cNvPr id="8" name="Text 6"/>
          <p:cNvSpPr/>
          <p:nvPr/>
        </p:nvSpPr>
        <p:spPr>
          <a:xfrm>
            <a:off x="622300" y="1468120"/>
            <a:ext cx="3513653" cy="469900"/>
          </a:xfrm>
          <a:prstGeom prst="rect">
            <a:avLst/>
          </a:prstGeom>
          <a:solidFill>
            <a:srgbClr val="003594"/>
          </a:solidFill>
          <a:ln/>
        </p:spPr>
        <p:txBody>
          <a:bodyPr wrap="square" lIns="152400" tIns="101600" rIns="56134"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1. Problem and Planning</a:t>
            </a:r>
            <a:endParaRPr lang="en-US" sz="1500" dirty="0"/>
          </a:p>
        </p:txBody>
      </p:sp>
      <p:sp>
        <p:nvSpPr>
          <p:cNvPr id="9" name="Text 7"/>
          <p:cNvSpPr/>
          <p:nvPr/>
        </p:nvSpPr>
        <p:spPr>
          <a:xfrm>
            <a:off x="774700" y="2065020"/>
            <a:ext cx="330511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Defined the problem, reviewed TDA methods, and chose tools</a:t>
            </a:r>
            <a:endParaRPr lang="en-US" sz="1300" dirty="0"/>
          </a:p>
        </p:txBody>
      </p:sp>
      <p:sp>
        <p:nvSpPr>
          <p:cNvPr id="10" name="Text 8"/>
          <p:cNvSpPr/>
          <p:nvPr/>
        </p:nvSpPr>
        <p:spPr>
          <a:xfrm>
            <a:off x="774700" y="2612390"/>
            <a:ext cx="895152" cy="289560"/>
          </a:xfrm>
          <a:custGeom>
            <a:avLst/>
            <a:gdLst/>
            <a:ahLst/>
            <a:cxnLst/>
            <a:rect l="l" t="t" r="r" b="b"/>
            <a:pathLst>
              <a:path w="895152" h="289560">
                <a:moveTo>
                  <a:pt x="144780" y="0"/>
                </a:moveTo>
                <a:lnTo>
                  <a:pt x="750372" y="0"/>
                </a:lnTo>
                <a:arcTo hR="144780" wR="144780" stAng="16200000" swAng="5400000"/>
                <a:lnTo>
                  <a:pt x="895152" y="144780"/>
                </a:lnTo>
                <a:arcTo hR="144780" wR="144780" stAng="0" swAng="5400000"/>
                <a:lnTo>
                  <a:pt x="144780" y="289560"/>
                </a:lnTo>
                <a:arcTo hR="144780" wR="144780" stAng="5400000" swAng="5400000"/>
                <a:lnTo>
                  <a:pt x="0" y="144780"/>
                </a:lnTo>
                <a:arcTo hR="144780" wR="144780" stAng="10800000" swAng="5400000"/>
                <a:close/>
              </a:path>
            </a:pathLst>
          </a:custGeom>
          <a:solidFill>
            <a:srgbClr val="003594"/>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Lato" pitchFamily="34" charset="0"/>
                <a:ea typeface="Lato" pitchFamily="34" charset="-122"/>
                <a:cs typeface="Lato" pitchFamily="34" charset="-120"/>
              </a:rPr>
              <a:t>Complete</a:t>
            </a:r>
            <a:endParaRPr lang="en-US" sz="1200" dirty="0"/>
          </a:p>
        </p:txBody>
      </p:sp>
      <p:sp>
        <p:nvSpPr>
          <p:cNvPr id="11" name="Shape 9"/>
          <p:cNvSpPr/>
          <p:nvPr/>
        </p:nvSpPr>
        <p:spPr>
          <a:xfrm>
            <a:off x="4332803" y="1461770"/>
            <a:ext cx="3526353" cy="1573530"/>
          </a:xfrm>
          <a:prstGeom prst="rect">
            <a:avLst/>
          </a:prstGeom>
          <a:noFill/>
          <a:ln w="12700">
            <a:solidFill>
              <a:srgbClr val="003594"/>
            </a:solidFill>
            <a:prstDash val="solid"/>
          </a:ln>
        </p:spPr>
      </p:sp>
      <p:sp>
        <p:nvSpPr>
          <p:cNvPr id="12" name="Text 10"/>
          <p:cNvSpPr/>
          <p:nvPr/>
        </p:nvSpPr>
        <p:spPr>
          <a:xfrm>
            <a:off x="4339153" y="1468120"/>
            <a:ext cx="3513653" cy="469900"/>
          </a:xfrm>
          <a:prstGeom prst="rect">
            <a:avLst/>
          </a:prstGeom>
          <a:solidFill>
            <a:srgbClr val="003594"/>
          </a:solidFill>
          <a:ln/>
        </p:spPr>
        <p:txBody>
          <a:bodyPr wrap="square" lIns="152400" tIns="101600" rIns="56134"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2. Data Collection</a:t>
            </a:r>
            <a:endParaRPr lang="en-US" sz="1500" dirty="0"/>
          </a:p>
        </p:txBody>
      </p:sp>
      <p:sp>
        <p:nvSpPr>
          <p:cNvPr id="13" name="Text 11"/>
          <p:cNvSpPr/>
          <p:nvPr/>
        </p:nvSpPr>
        <p:spPr>
          <a:xfrm>
            <a:off x="4491553" y="2065020"/>
            <a:ext cx="330511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Opendatabay data: 70,823 records, filtered to vehicles from 2000 to 2020</a:t>
            </a:r>
            <a:endParaRPr lang="en-US" sz="1300" dirty="0"/>
          </a:p>
        </p:txBody>
      </p:sp>
      <p:sp>
        <p:nvSpPr>
          <p:cNvPr id="14" name="Text 12"/>
          <p:cNvSpPr/>
          <p:nvPr/>
        </p:nvSpPr>
        <p:spPr>
          <a:xfrm>
            <a:off x="4491553" y="2612390"/>
            <a:ext cx="895152" cy="289560"/>
          </a:xfrm>
          <a:custGeom>
            <a:avLst/>
            <a:gdLst/>
            <a:ahLst/>
            <a:cxnLst/>
            <a:rect l="l" t="t" r="r" b="b"/>
            <a:pathLst>
              <a:path w="895152" h="289560">
                <a:moveTo>
                  <a:pt x="144780" y="0"/>
                </a:moveTo>
                <a:lnTo>
                  <a:pt x="750372" y="0"/>
                </a:lnTo>
                <a:arcTo hR="144780" wR="144780" stAng="16200000" swAng="5400000"/>
                <a:lnTo>
                  <a:pt x="895152" y="144780"/>
                </a:lnTo>
                <a:arcTo hR="144780" wR="144780" stAng="0" swAng="5400000"/>
                <a:lnTo>
                  <a:pt x="144780" y="289560"/>
                </a:lnTo>
                <a:arcTo hR="144780" wR="144780" stAng="5400000" swAng="5400000"/>
                <a:lnTo>
                  <a:pt x="0" y="144780"/>
                </a:lnTo>
                <a:arcTo hR="144780" wR="144780" stAng="10800000" swAng="5400000"/>
                <a:close/>
              </a:path>
            </a:pathLst>
          </a:custGeom>
          <a:solidFill>
            <a:srgbClr val="003594"/>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Lato" pitchFamily="34" charset="0"/>
                <a:ea typeface="Lato" pitchFamily="34" charset="-122"/>
                <a:cs typeface="Lato" pitchFamily="34" charset="-120"/>
              </a:rPr>
              <a:t>Complete</a:t>
            </a:r>
            <a:endParaRPr lang="en-US" sz="1200" dirty="0"/>
          </a:p>
        </p:txBody>
      </p:sp>
      <p:sp>
        <p:nvSpPr>
          <p:cNvPr id="15" name="Shape 13"/>
          <p:cNvSpPr/>
          <p:nvPr/>
        </p:nvSpPr>
        <p:spPr>
          <a:xfrm>
            <a:off x="8049657" y="1461770"/>
            <a:ext cx="3526393" cy="1573530"/>
          </a:xfrm>
          <a:prstGeom prst="rect">
            <a:avLst/>
          </a:prstGeom>
          <a:noFill/>
          <a:ln w="12700">
            <a:solidFill>
              <a:srgbClr val="003594"/>
            </a:solidFill>
            <a:prstDash val="solid"/>
          </a:ln>
        </p:spPr>
      </p:sp>
      <p:sp>
        <p:nvSpPr>
          <p:cNvPr id="16" name="Text 14"/>
          <p:cNvSpPr/>
          <p:nvPr/>
        </p:nvSpPr>
        <p:spPr>
          <a:xfrm>
            <a:off x="8056007" y="1468120"/>
            <a:ext cx="3513693" cy="469900"/>
          </a:xfrm>
          <a:prstGeom prst="rect">
            <a:avLst/>
          </a:prstGeom>
          <a:solidFill>
            <a:srgbClr val="003594"/>
          </a:solidFill>
          <a:ln/>
        </p:spPr>
        <p:txBody>
          <a:bodyPr wrap="square" lIns="152400" tIns="101600" rIns="56133"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3. Data Cleaning</a:t>
            </a:r>
            <a:endParaRPr lang="en-US" sz="1500" dirty="0"/>
          </a:p>
        </p:txBody>
      </p:sp>
      <p:sp>
        <p:nvSpPr>
          <p:cNvPr id="17" name="Text 15"/>
          <p:cNvSpPr/>
          <p:nvPr/>
        </p:nvSpPr>
        <p:spPr>
          <a:xfrm>
            <a:off x="8208407" y="2065020"/>
            <a:ext cx="330516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Missing values, column types, redundant columns, and the final feature set</a:t>
            </a:r>
            <a:endParaRPr lang="en-US" sz="1300" dirty="0"/>
          </a:p>
        </p:txBody>
      </p:sp>
      <p:sp>
        <p:nvSpPr>
          <p:cNvPr id="18" name="Text 16"/>
          <p:cNvSpPr/>
          <p:nvPr/>
        </p:nvSpPr>
        <p:spPr>
          <a:xfrm>
            <a:off x="8208407" y="2612390"/>
            <a:ext cx="1356360" cy="289560"/>
          </a:xfrm>
          <a:custGeom>
            <a:avLst/>
            <a:gdLst/>
            <a:ahLst/>
            <a:cxnLst/>
            <a:rect l="l" t="t" r="r" b="b"/>
            <a:pathLst>
              <a:path w="1356360" h="289560">
                <a:moveTo>
                  <a:pt x="144780" y="0"/>
                </a:moveTo>
                <a:lnTo>
                  <a:pt x="1211580" y="0"/>
                </a:lnTo>
                <a:arcTo hR="144780" wR="144780" stAng="16200000" swAng="5400000"/>
                <a:lnTo>
                  <a:pt x="1356360" y="144780"/>
                </a:lnTo>
                <a:arcTo hR="144780" wR="144780" stAng="0" swAng="5400000"/>
                <a:lnTo>
                  <a:pt x="144780" y="289560"/>
                </a:lnTo>
                <a:arcTo hR="144780" wR="144780" stAng="5400000" swAng="5400000"/>
                <a:lnTo>
                  <a:pt x="0" y="144780"/>
                </a:lnTo>
                <a:arcTo hR="144780" wR="144780" stAng="10800000" swAng="5400000"/>
                <a:close/>
              </a:path>
            </a:pathLst>
          </a:custGeom>
          <a:solidFill>
            <a:srgbClr val="FFC72C"/>
          </a:solidFill>
          <a:ln/>
        </p:spPr>
        <p:txBody>
          <a:bodyPr wrap="none" lIns="0" tIns="0" rIns="0" bIns="0" rtlCol="0" anchor="ctr">
            <a:normAutofit/>
          </a:bodyPr>
          <a:lstStyle/>
          <a:p>
            <a:pPr algn="ctr" indent="0" marL="0">
              <a:lnSpc>
                <a:spcPts val="1680"/>
              </a:lnSpc>
              <a:buNone/>
            </a:pPr>
            <a:r>
              <a:rPr lang="en-US" sz="1200" b="1" dirty="0">
                <a:solidFill>
                  <a:srgbClr val="001A70"/>
                </a:solidFill>
                <a:latin typeface="Lato" pitchFamily="34" charset="0"/>
                <a:ea typeface="Lato" pitchFamily="34" charset="-122"/>
                <a:cs typeface="Lato" pitchFamily="34" charset="-120"/>
              </a:rPr>
              <a:t>Nearly complete</a:t>
            </a:r>
            <a:endParaRPr lang="en-US" sz="1200" dirty="0"/>
          </a:p>
        </p:txBody>
      </p:sp>
      <p:sp>
        <p:nvSpPr>
          <p:cNvPr id="19" name="Shape 17"/>
          <p:cNvSpPr/>
          <p:nvPr/>
        </p:nvSpPr>
        <p:spPr>
          <a:xfrm>
            <a:off x="615950" y="3225800"/>
            <a:ext cx="3526353" cy="1573530"/>
          </a:xfrm>
          <a:prstGeom prst="rect">
            <a:avLst/>
          </a:prstGeom>
          <a:noFill/>
          <a:ln w="12700">
            <a:solidFill>
              <a:srgbClr val="003594"/>
            </a:solidFill>
            <a:prstDash val="solid"/>
          </a:ln>
        </p:spPr>
      </p:sp>
      <p:sp>
        <p:nvSpPr>
          <p:cNvPr id="20" name="Text 18"/>
          <p:cNvSpPr/>
          <p:nvPr/>
        </p:nvSpPr>
        <p:spPr>
          <a:xfrm>
            <a:off x="622300" y="3232150"/>
            <a:ext cx="3513653" cy="469900"/>
          </a:xfrm>
          <a:prstGeom prst="rect">
            <a:avLst/>
          </a:prstGeom>
          <a:solidFill>
            <a:srgbClr val="003594"/>
          </a:solidFill>
          <a:ln/>
        </p:spPr>
        <p:txBody>
          <a:bodyPr wrap="square" lIns="152400" tIns="101600" rIns="56134"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4. Algorithm Implementation</a:t>
            </a:r>
            <a:endParaRPr lang="en-US" sz="1500" dirty="0"/>
          </a:p>
        </p:txBody>
      </p:sp>
      <p:sp>
        <p:nvSpPr>
          <p:cNvPr id="21" name="Text 19"/>
          <p:cNvSpPr/>
          <p:nvPr/>
        </p:nvSpPr>
        <p:spPr>
          <a:xfrm>
            <a:off x="774700" y="3829050"/>
            <a:ext cx="330511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Gower distance and persistent homology procedures defined; computation is next</a:t>
            </a:r>
            <a:endParaRPr lang="en-US" sz="1300" dirty="0"/>
          </a:p>
        </p:txBody>
      </p:sp>
      <p:sp>
        <p:nvSpPr>
          <p:cNvPr id="22" name="Text 20"/>
          <p:cNvSpPr/>
          <p:nvPr/>
        </p:nvSpPr>
        <p:spPr>
          <a:xfrm>
            <a:off x="774700" y="4376420"/>
            <a:ext cx="983377" cy="289560"/>
          </a:xfrm>
          <a:custGeom>
            <a:avLst/>
            <a:gdLst/>
            <a:ahLst/>
            <a:cxnLst/>
            <a:rect l="l" t="t" r="r" b="b"/>
            <a:pathLst>
              <a:path w="983377" h="289560">
                <a:moveTo>
                  <a:pt x="144780" y="0"/>
                </a:moveTo>
                <a:lnTo>
                  <a:pt x="838597" y="0"/>
                </a:lnTo>
                <a:arcTo hR="144780" wR="144780" stAng="16200000" swAng="5400000"/>
                <a:lnTo>
                  <a:pt x="983377" y="144780"/>
                </a:lnTo>
                <a:arcTo hR="144780" wR="144780" stAng="0" swAng="5400000"/>
                <a:lnTo>
                  <a:pt x="144780" y="289560"/>
                </a:lnTo>
                <a:arcTo hR="144780" wR="144780" stAng="5400000" swAng="5400000"/>
                <a:lnTo>
                  <a:pt x="0" y="144780"/>
                </a:lnTo>
                <a:arcTo hR="144780" wR="144780" stAng="10800000" swAng="5400000"/>
                <a:close/>
              </a:path>
            </a:pathLst>
          </a:custGeom>
          <a:solidFill>
            <a:srgbClr val="FFC72C"/>
          </a:solidFill>
          <a:ln/>
        </p:spPr>
        <p:txBody>
          <a:bodyPr wrap="none" lIns="0" tIns="0" rIns="0" bIns="0" rtlCol="0" anchor="ctr">
            <a:normAutofit/>
          </a:bodyPr>
          <a:lstStyle/>
          <a:p>
            <a:pPr algn="ctr" indent="0" marL="0">
              <a:lnSpc>
                <a:spcPts val="1680"/>
              </a:lnSpc>
              <a:buNone/>
            </a:pPr>
            <a:r>
              <a:rPr lang="en-US" sz="1200" b="1" dirty="0">
                <a:solidFill>
                  <a:srgbClr val="001A70"/>
                </a:solidFill>
                <a:latin typeface="Lato" pitchFamily="34" charset="0"/>
                <a:ea typeface="Lato" pitchFamily="34" charset="-122"/>
                <a:cs typeface="Lato" pitchFamily="34" charset="-120"/>
              </a:rPr>
              <a:t>In progress</a:t>
            </a:r>
            <a:endParaRPr lang="en-US" sz="1200" dirty="0"/>
          </a:p>
        </p:txBody>
      </p:sp>
      <p:sp>
        <p:nvSpPr>
          <p:cNvPr id="23" name="Shape 21"/>
          <p:cNvSpPr/>
          <p:nvPr/>
        </p:nvSpPr>
        <p:spPr>
          <a:xfrm>
            <a:off x="4332803" y="3225800"/>
            <a:ext cx="3526353" cy="1573530"/>
          </a:xfrm>
          <a:prstGeom prst="rect">
            <a:avLst/>
          </a:prstGeom>
          <a:noFill/>
          <a:ln w="12700">
            <a:solidFill>
              <a:srgbClr val="003594"/>
            </a:solidFill>
            <a:prstDash val="solid"/>
          </a:ln>
        </p:spPr>
      </p:sp>
      <p:sp>
        <p:nvSpPr>
          <p:cNvPr id="24" name="Text 22"/>
          <p:cNvSpPr/>
          <p:nvPr/>
        </p:nvSpPr>
        <p:spPr>
          <a:xfrm>
            <a:off x="4339153" y="3232150"/>
            <a:ext cx="3513653" cy="469900"/>
          </a:xfrm>
          <a:prstGeom prst="rect">
            <a:avLst/>
          </a:prstGeom>
          <a:solidFill>
            <a:srgbClr val="003594"/>
          </a:solidFill>
          <a:ln/>
        </p:spPr>
        <p:txBody>
          <a:bodyPr wrap="square" lIns="152400" tIns="101600" rIns="56134"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5. Tuning and Evaluation</a:t>
            </a:r>
            <a:endParaRPr lang="en-US" sz="1500" dirty="0"/>
          </a:p>
        </p:txBody>
      </p:sp>
      <p:sp>
        <p:nvSpPr>
          <p:cNvPr id="25" name="Text 23"/>
          <p:cNvSpPr/>
          <p:nvPr/>
        </p:nvSpPr>
        <p:spPr>
          <a:xfrm>
            <a:off x="4491553" y="3829050"/>
            <a:ext cx="3305119"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Mapper parameters, ε and min_samples for DBSCAN, and stability checks</a:t>
            </a:r>
            <a:endParaRPr lang="en-US" sz="1300" dirty="0"/>
          </a:p>
        </p:txBody>
      </p:sp>
      <p:sp>
        <p:nvSpPr>
          <p:cNvPr id="26" name="Text 24"/>
          <p:cNvSpPr/>
          <p:nvPr/>
        </p:nvSpPr>
        <p:spPr>
          <a:xfrm>
            <a:off x="4491553" y="4376420"/>
            <a:ext cx="1013778" cy="289560"/>
          </a:xfrm>
          <a:custGeom>
            <a:avLst/>
            <a:gdLst/>
            <a:ahLst/>
            <a:cxnLst/>
            <a:rect l="l" t="t" r="r" b="b"/>
            <a:pathLst>
              <a:path w="1013778" h="289560">
                <a:moveTo>
                  <a:pt x="144780" y="0"/>
                </a:moveTo>
                <a:lnTo>
                  <a:pt x="868998" y="0"/>
                </a:lnTo>
                <a:arcTo hR="144780" wR="144780" stAng="16200000" swAng="5400000"/>
                <a:lnTo>
                  <a:pt x="1013778" y="144780"/>
                </a:lnTo>
                <a:arcTo hR="144780" wR="144780" stAng="0" swAng="5400000"/>
                <a:lnTo>
                  <a:pt x="144780" y="289560"/>
                </a:lnTo>
                <a:arcTo hR="144780" wR="144780" stAng="5400000" swAng="5400000"/>
                <a:lnTo>
                  <a:pt x="0" y="144780"/>
                </a:lnTo>
                <a:arcTo hR="144780" wR="144780" stAng="10800000" swAng="5400000"/>
                <a:close/>
              </a:path>
            </a:pathLst>
          </a:custGeom>
          <a:solidFill>
            <a:srgbClr val="F5E6BD"/>
          </a:solidFill>
          <a:ln/>
        </p:spPr>
        <p:txBody>
          <a:bodyPr wrap="none" lIns="0" tIns="0" rIns="0" bIns="0" rtlCol="0" anchor="ctr">
            <a:normAutofit/>
          </a:bodyPr>
          <a:lstStyle/>
          <a:p>
            <a:pPr algn="ctr" indent="0" marL="0">
              <a:lnSpc>
                <a:spcPts val="1680"/>
              </a:lnSpc>
              <a:buNone/>
            </a:pPr>
            <a:r>
              <a:rPr lang="en-US" sz="1200" b="1" dirty="0">
                <a:solidFill>
                  <a:srgbClr val="001A70"/>
                </a:solidFill>
                <a:latin typeface="Lato" pitchFamily="34" charset="0"/>
                <a:ea typeface="Lato" pitchFamily="34" charset="-122"/>
                <a:cs typeface="Lato" pitchFamily="34" charset="-120"/>
              </a:rPr>
              <a:t>Not started</a:t>
            </a:r>
            <a:endParaRPr lang="en-US" sz="1200" dirty="0"/>
          </a:p>
        </p:txBody>
      </p:sp>
      <p:sp>
        <p:nvSpPr>
          <p:cNvPr id="27" name="Shape 25"/>
          <p:cNvSpPr/>
          <p:nvPr/>
        </p:nvSpPr>
        <p:spPr>
          <a:xfrm>
            <a:off x="8049657" y="3225800"/>
            <a:ext cx="3526393" cy="1573530"/>
          </a:xfrm>
          <a:prstGeom prst="rect">
            <a:avLst/>
          </a:prstGeom>
          <a:noFill/>
          <a:ln w="12700">
            <a:solidFill>
              <a:srgbClr val="003594"/>
            </a:solidFill>
            <a:prstDash val="solid"/>
          </a:ln>
        </p:spPr>
      </p:sp>
      <p:sp>
        <p:nvSpPr>
          <p:cNvPr id="28" name="Text 26"/>
          <p:cNvSpPr/>
          <p:nvPr/>
        </p:nvSpPr>
        <p:spPr>
          <a:xfrm>
            <a:off x="8056007" y="3232150"/>
            <a:ext cx="3513693" cy="469900"/>
          </a:xfrm>
          <a:prstGeom prst="rect">
            <a:avLst/>
          </a:prstGeom>
          <a:solidFill>
            <a:srgbClr val="003594"/>
          </a:solidFill>
          <a:ln/>
        </p:spPr>
        <p:txBody>
          <a:bodyPr wrap="square" lIns="152400" tIns="101600" rIns="56133"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6. Web App and Integration</a:t>
            </a:r>
            <a:endParaRPr lang="en-US" sz="1500" dirty="0"/>
          </a:p>
        </p:txBody>
      </p:sp>
      <p:sp>
        <p:nvSpPr>
          <p:cNvPr id="29" name="Text 27"/>
          <p:cNvSpPr/>
          <p:nvPr/>
        </p:nvSpPr>
        <p:spPr>
          <a:xfrm>
            <a:off x="8208407" y="3829050"/>
            <a:ext cx="330516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Research on web implementation methods and a mockup of the interface</a:t>
            </a:r>
            <a:endParaRPr lang="en-US" sz="1300" dirty="0"/>
          </a:p>
        </p:txBody>
      </p:sp>
      <p:sp>
        <p:nvSpPr>
          <p:cNvPr id="30" name="Text 28"/>
          <p:cNvSpPr/>
          <p:nvPr/>
        </p:nvSpPr>
        <p:spPr>
          <a:xfrm>
            <a:off x="8208407" y="4376420"/>
            <a:ext cx="983377" cy="289560"/>
          </a:xfrm>
          <a:custGeom>
            <a:avLst/>
            <a:gdLst/>
            <a:ahLst/>
            <a:cxnLst/>
            <a:rect l="l" t="t" r="r" b="b"/>
            <a:pathLst>
              <a:path w="983377" h="289560">
                <a:moveTo>
                  <a:pt x="144780" y="0"/>
                </a:moveTo>
                <a:lnTo>
                  <a:pt x="838597" y="0"/>
                </a:lnTo>
                <a:arcTo hR="144780" wR="144780" stAng="16200000" swAng="5400000"/>
                <a:lnTo>
                  <a:pt x="983377" y="144780"/>
                </a:lnTo>
                <a:arcTo hR="144780" wR="144780" stAng="0" swAng="5400000"/>
                <a:lnTo>
                  <a:pt x="144780" y="289560"/>
                </a:lnTo>
                <a:arcTo hR="144780" wR="144780" stAng="5400000" swAng="5400000"/>
                <a:lnTo>
                  <a:pt x="0" y="144780"/>
                </a:lnTo>
                <a:arcTo hR="144780" wR="144780" stAng="10800000" swAng="5400000"/>
                <a:close/>
              </a:path>
            </a:pathLst>
          </a:custGeom>
          <a:solidFill>
            <a:srgbClr val="FFC72C"/>
          </a:solidFill>
          <a:ln/>
        </p:spPr>
        <p:txBody>
          <a:bodyPr wrap="none" lIns="0" tIns="0" rIns="0" bIns="0" rtlCol="0" anchor="ctr">
            <a:normAutofit/>
          </a:bodyPr>
          <a:lstStyle/>
          <a:p>
            <a:pPr algn="ctr" indent="0" marL="0">
              <a:lnSpc>
                <a:spcPts val="1680"/>
              </a:lnSpc>
              <a:buNone/>
            </a:pPr>
            <a:r>
              <a:rPr lang="en-US" sz="1200" b="1" dirty="0">
                <a:solidFill>
                  <a:srgbClr val="001A70"/>
                </a:solidFill>
                <a:latin typeface="Lato" pitchFamily="34" charset="0"/>
                <a:ea typeface="Lato" pitchFamily="34" charset="-122"/>
                <a:cs typeface="Lato" pitchFamily="34" charset="-120"/>
              </a:rPr>
              <a:t>In progress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Data</a:t>
            </a:r>
            <a:endParaRPr lang="en-US" sz="3600" dirty="0"/>
          </a:p>
        </p:txBody>
      </p:sp>
      <p:sp>
        <p:nvSpPr>
          <p:cNvPr id="6" name="Text 4"/>
          <p:cNvSpPr/>
          <p:nvPr/>
        </p:nvSpPr>
        <p:spPr>
          <a:xfrm>
            <a:off x="609600" y="960120"/>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Opendatabay vehicle specifications, before and after cleaning</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68120"/>
          <a:ext cx="10960100" cy="2702560"/>
        </p:xfrm>
        <a:graphic>
          <a:graphicData uri="http://schemas.openxmlformats.org/drawingml/2006/table">
            <a:tbl>
              <a:tblPr/>
              <a:tblGrid>
                <a:gridCol w="3068828"/>
                <a:gridCol w="7891272"/>
              </a:tblGrid>
              <a:tr h="386080">
                <a:tc>
                  <a:txBody>
                    <a:bodyPr/>
                    <a:lstStyle/>
                    <a:p>
                      <a:pPr indent="0" marL="0">
                        <a:lnSpc>
                          <a:spcPts val="1960"/>
                        </a:lnSpc>
                        <a:buNone/>
                      </a:pPr>
                      <a:r>
                        <a:rPr lang="en-US" sz="1400" b="1" dirty="0">
                          <a:solidFill>
                            <a:srgbClr val="FFFFFF"/>
                          </a:solidFill>
                          <a:latin typeface="Lato" pitchFamily="34" charset="0"/>
                          <a:ea typeface="Lato" pitchFamily="34" charset="-122"/>
                          <a:cs typeface="Lato" pitchFamily="34" charset="-120"/>
                        </a:rPr>
                        <a:t>Item</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960"/>
                        </a:lnSpc>
                        <a:buNone/>
                      </a:pPr>
                      <a:r>
                        <a:rPr lang="en-US" sz="1400" b="1" dirty="0">
                          <a:solidFill>
                            <a:srgbClr val="FFFFFF"/>
                          </a:solidFill>
                          <a:latin typeface="Lato" pitchFamily="34" charset="0"/>
                          <a:ea typeface="Lato" pitchFamily="34" charset="-122"/>
                          <a:cs typeface="Lato" pitchFamily="34" charset="-120"/>
                        </a:rPr>
                        <a:t>Detail</a:t>
                      </a:r>
                      <a:endParaRPr lang="en-US" sz="1400" dirty="0">
                        <a:latin typeface="Lato" charset="0"/>
                        <a:ea typeface="Lato" charset="0"/>
                        <a:cs typeface="Lato" charset="0"/>
                      </a:endParaRPr>
                    </a:p>
                  </a:txBody>
                  <a:tcPr marL="62230" marR="62230" marT="62230" marB="62230"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Source</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Opendatabay.com vehicle specifications</a:t>
                      </a:r>
                      <a:endParaRPr lang="en-US" sz="1400" dirty="0">
                        <a:latin typeface="Lato" charset="0"/>
                        <a:ea typeface="Lato" charset="0"/>
                        <a:cs typeface="Lato" charset="0"/>
                      </a:endParaRPr>
                    </a:p>
                  </a:txBody>
                  <a:tcPr marL="62230" marR="62230" marT="62230" marB="62230"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Full dataset</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70,823 records and 78 columns of mixed type</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Year filter</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Vehicles introduced from 2000 to 2020: 34,699 vehicles</a:t>
                      </a:r>
                      <a:endParaRPr lang="en-US" sz="1400" dirty="0">
                        <a:latin typeface="Lato" charset="0"/>
                        <a:ea typeface="Lato" charset="0"/>
                        <a:cs typeface="Lato" charset="0"/>
                      </a:endParaRPr>
                    </a:p>
                  </a:txBody>
                  <a:tcPr marL="62230" marR="62230" marT="62230" marB="62230"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Current cleaned data</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About 30,000 vehicles and 50 mixed-type features</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Identifiers</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Make, model, trim and other labels kept in a lookup table, not used in the distance</a:t>
                      </a:r>
                      <a:endParaRPr lang="en-US" sz="1400" dirty="0">
                        <a:latin typeface="Lato" charset="0"/>
                        <a:ea typeface="Lato" charset="0"/>
                        <a:cs typeface="Lato" charset="0"/>
                      </a:endParaRPr>
                    </a:p>
                  </a:txBody>
                  <a:tcPr marL="62230" marR="62230" marT="62230" marB="62230"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86080">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Metadata</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01A70"/>
                          </a:solidFill>
                          <a:latin typeface="Lato" pitchFamily="34" charset="0"/>
                          <a:ea typeface="Lato" pitchFamily="34" charset="-122"/>
                          <a:cs typeface="Lato" pitchFamily="34" charset="-120"/>
                        </a:rPr>
                        <a:t>Administrative fields kept for web app tooltips, not used in the distance</a:t>
                      </a:r>
                      <a:endParaRPr lang="en-US" sz="1400" dirty="0">
                        <a:latin typeface="Lato" charset="0"/>
                        <a:ea typeface="Lato" charset="0"/>
                        <a:cs typeface="La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Data Cleaning Process</a:t>
            </a:r>
            <a:endParaRPr lang="en-US" sz="3600" dirty="0"/>
          </a:p>
        </p:txBody>
      </p:sp>
      <p:sp>
        <p:nvSpPr>
          <p:cNvPr id="6" name="Text 4"/>
          <p:cNvSpPr/>
          <p:nvPr/>
        </p:nvSpPr>
        <p:spPr>
          <a:xfrm>
            <a:off x="609600" y="960120"/>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Steps 1 to 5: rows, missing values, and column types (R, dplyr)</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68120"/>
          <a:ext cx="10960100" cy="3089275"/>
        </p:xfrm>
        <a:graphic>
          <a:graphicData uri="http://schemas.openxmlformats.org/drawingml/2006/table">
            <a:tbl>
              <a:tblPr/>
              <a:tblGrid>
                <a:gridCol w="2630424"/>
                <a:gridCol w="8329676"/>
              </a:tblGrid>
              <a:tr h="372745">
                <a:tc>
                  <a:txBody>
                    <a:bodyPr/>
                    <a:lstStyle/>
                    <a:p>
                      <a:pPr indent="0" marL="0">
                        <a:lnSpc>
                          <a:spcPts val="1890"/>
                        </a:lnSpc>
                        <a:buNone/>
                      </a:pPr>
                      <a:r>
                        <a:rPr lang="en-US" sz="1350" b="1" dirty="0">
                          <a:solidFill>
                            <a:srgbClr val="FFFFFF"/>
                          </a:solidFill>
                          <a:latin typeface="Lato" pitchFamily="34" charset="0"/>
                          <a:ea typeface="Lato" pitchFamily="34" charset="-122"/>
                          <a:cs typeface="Lato" pitchFamily="34" charset="-120"/>
                        </a:rPr>
                        <a:t>Step</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90"/>
                        </a:lnSpc>
                        <a:buNone/>
                      </a:pPr>
                      <a:r>
                        <a:rPr lang="en-US" sz="1350" b="1" dirty="0">
                          <a:solidFill>
                            <a:srgbClr val="FFFFFF"/>
                          </a:solidFill>
                          <a:latin typeface="Lato" pitchFamily="34" charset="0"/>
                          <a:ea typeface="Lato" pitchFamily="34" charset="-122"/>
                          <a:cs typeface="Lato" pitchFamily="34" charset="-120"/>
                        </a:rPr>
                        <a:t>Action</a:t>
                      </a:r>
                      <a:endParaRPr lang="en-US" sz="1350" dirty="0">
                        <a:latin typeface="Lato" charset="0"/>
                        <a:ea typeface="Lato" charset="0"/>
                        <a:cs typeface="Lato" charset="0"/>
                      </a:endParaRPr>
                    </a:p>
                  </a:txBody>
                  <a:tcPr marL="60007" marR="60007" marT="60007" marB="60007"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Environment</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Load dplyr before calling filter(), since stats::filter masks it by default</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61277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Row scope</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Keep vehicles introduced from 2000 to 2020; drop exact duplicate rows (same make, model, trim, and generation)</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Missing values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Replace empty strings and other placeholder tokens with NA in all character columns</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61277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Column types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Numeric-looking text columns to numeric; categorical columns (body type, drive wheels, transmission, engine type, cylinder layout) to factors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Mixed formats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Parsing rules for fields such as range_km = "450|1,000", instead of as.numeric(), which returns NA</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Identifiers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id_trim, Make, Model, Generation, Series, and Trim moved to a lookup table</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Data Cleaning Process</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Steps 6 to 10: columns, rows, values, and the final feature set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68121"/>
          <a:ext cx="10960100" cy="3089275"/>
        </p:xfrm>
        <a:graphic>
          <a:graphicData uri="http://schemas.openxmlformats.org/drawingml/2006/table">
            <a:tbl>
              <a:tblPr/>
              <a:tblGrid>
                <a:gridCol w="2630424"/>
                <a:gridCol w="8329676"/>
              </a:tblGrid>
              <a:tr h="372745">
                <a:tc>
                  <a:txBody>
                    <a:bodyPr/>
                    <a:lstStyle/>
                    <a:p>
                      <a:pPr indent="0" marL="0">
                        <a:lnSpc>
                          <a:spcPts val="1890"/>
                        </a:lnSpc>
                        <a:buNone/>
                      </a:pPr>
                      <a:r>
                        <a:rPr lang="en-US" sz="1350" b="1" dirty="0">
                          <a:solidFill>
                            <a:srgbClr val="FFFFFF"/>
                          </a:solidFill>
                          <a:latin typeface="Lato" pitchFamily="34" charset="0"/>
                          <a:ea typeface="Lato" pitchFamily="34" charset="-122"/>
                          <a:cs typeface="Lato" pitchFamily="34" charset="-120"/>
                        </a:rPr>
                        <a:t>Step</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90"/>
                        </a:lnSpc>
                        <a:buNone/>
                      </a:pPr>
                      <a:r>
                        <a:rPr lang="en-US" sz="1350" b="1" dirty="0">
                          <a:solidFill>
                            <a:srgbClr val="FFFFFF"/>
                          </a:solidFill>
                          <a:latin typeface="Lato" pitchFamily="34" charset="0"/>
                          <a:ea typeface="Lato" pitchFamily="34" charset="-122"/>
                          <a:cs typeface="Lato" pitchFamily="34" charset="-120"/>
                        </a:rPr>
                        <a:t>Action</a:t>
                      </a:r>
                      <a:endParaRPr lang="en-US" sz="1350" dirty="0">
                        <a:latin typeface="Lato" charset="0"/>
                        <a:ea typeface="Lato" charset="0"/>
                        <a:cs typeface="Lato" charset="0"/>
                      </a:endParaRPr>
                    </a:p>
                  </a:txBody>
                  <a:tcPr marL="60007" marR="60007" marT="60007" marB="60007"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Column missingness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Compute the percentage missing in each column; drop columns above a cutoff of 40 to 60%</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61277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Redundant pairs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Keep the better-populated column of clearance_mm / ground_clearance_mm, front_track_mm / front_track_width_mm, and curb_weight_kg / full_weight_kg</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Row completeness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Drop trims below a completeness threshold, since rows with few specs give unreliable distances</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Value checks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Spot-check number of doors, number of seats, and maximum speed for unit and entry errors</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1277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Feature set</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Design variables (dimensions, performance, drivetrain, engine) go into Gower; administrative fields (safety_assessment, rating_name, country_of_origin) stay as metadata</a:t>
                      </a:r>
                      <a:endParaRPr lang="en-US" sz="1350" dirty="0">
                        <a:latin typeface="Lato" charset="0"/>
                        <a:ea typeface="Lato" charset="0"/>
                        <a:cs typeface="Lato" charset="0"/>
                      </a:endParaRPr>
                    </a:p>
                  </a:txBody>
                  <a:tcPr marL="60007" marR="60007" marT="60007" marB="60007"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72745">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Export</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90"/>
                        </a:lnSpc>
                        <a:buNone/>
                      </a:pPr>
                      <a:r>
                        <a:rPr lang="en-US" sz="1350" dirty="0">
                          <a:solidFill>
                            <a:srgbClr val="001A70"/>
                          </a:solidFill>
                          <a:latin typeface="Lato" pitchFamily="34" charset="0"/>
                          <a:ea typeface="Lato" pitchFamily="34" charset="-122"/>
                          <a:cs typeface="Lato" pitchFamily="34" charset="-120"/>
                        </a:rPr>
                        <a:t>Save a typed dataset with NA values and separate ID columns as input to the Gower step</a:t>
                      </a:r>
                      <a:endParaRPr lang="en-US" sz="1350" dirty="0">
                        <a:latin typeface="Lato" charset="0"/>
                        <a:ea typeface="Lato" charset="0"/>
                        <a:cs typeface="Lato"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Computing the Full Gower Distance Matrix</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One 30,000 × 30,000 matrix used by both persistent homology and Mapper</a:t>
            </a:r>
            <a:endParaRPr lang="en-US" sz="1500" dirty="0"/>
          </a:p>
        </p:txBody>
      </p:sp>
      <p:sp>
        <p:nvSpPr>
          <p:cNvPr id="7" name="Text 5"/>
          <p:cNvSpPr/>
          <p:nvPr/>
        </p:nvSpPr>
        <p:spPr>
          <a:xfrm>
            <a:off x="6096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1. Lock the inputs</a:t>
            </a:r>
            <a:endParaRPr lang="en-US" sz="1500" dirty="0"/>
          </a:p>
        </p:txBody>
      </p:sp>
      <p:sp>
        <p:nvSpPr>
          <p:cNvPr id="8" name="Text 6"/>
          <p:cNvSpPr/>
          <p:nvPr/>
        </p:nvSpPr>
        <p:spPr>
          <a:xfrm>
            <a:off x="637794" y="2039621"/>
            <a:ext cx="2673858" cy="180848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Re-assert numeric and categorical types</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Categoricals as integer codes, missing = −1</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Numerics as float32, missing = NaN</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Row i of the matrix is row i of the ID lookup table</a:t>
            </a:r>
            <a:endParaRPr lang="en-US" sz="1300" dirty="0"/>
          </a:p>
        </p:txBody>
      </p:sp>
      <p:sp>
        <p:nvSpPr>
          <p:cNvPr id="9" name="Text 7"/>
          <p:cNvSpPr/>
          <p:nvPr/>
        </p:nvSpPr>
        <p:spPr>
          <a:xfrm>
            <a:off x="33909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2. Fix the scaling</a:t>
            </a:r>
            <a:endParaRPr lang="en-US" sz="1500" dirty="0"/>
          </a:p>
        </p:txBody>
      </p:sp>
      <p:sp>
        <p:nvSpPr>
          <p:cNvPr id="10" name="Text 8"/>
          <p:cNvSpPr/>
          <p:nvPr/>
        </p:nvSpPr>
        <p:spPr>
          <a:xfrm>
            <a:off x="3419094" y="2039621"/>
            <a:ext cx="2673858" cy="113982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Range (max − min) of each numeric column from all 30,000 rows</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Zero-range columns dropped</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Equal feature weights by default</a:t>
            </a:r>
            <a:endParaRPr lang="en-US" sz="1300" dirty="0"/>
          </a:p>
        </p:txBody>
      </p:sp>
      <p:sp>
        <p:nvSpPr>
          <p:cNvPr id="11" name="Text 9"/>
          <p:cNvSpPr/>
          <p:nvPr/>
        </p:nvSpPr>
        <p:spPr>
          <a:xfrm>
            <a:off x="61722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3. Store on disk</a:t>
            </a:r>
            <a:endParaRPr lang="en-US" sz="1500" dirty="0"/>
          </a:p>
        </p:txBody>
      </p:sp>
      <p:sp>
        <p:nvSpPr>
          <p:cNvPr id="12" name="Text 10"/>
          <p:cNvSpPr/>
          <p:nvPr/>
        </p:nvSpPr>
        <p:spPr>
          <a:xfrm>
            <a:off x="6200394" y="2039621"/>
            <a:ext cx="2673858" cy="113982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30,000 × 30,000 float32 is about 3.6 GB</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Created as a NumPy memory map (open_memmap), so the matrix is on disk instead of in RAM</a:t>
            </a:r>
            <a:endParaRPr lang="en-US" sz="1300" dirty="0"/>
          </a:p>
        </p:txBody>
      </p:sp>
      <p:sp>
        <p:nvSpPr>
          <p:cNvPr id="13" name="Text 11"/>
          <p:cNvSpPr/>
          <p:nvPr/>
        </p:nvSpPr>
        <p:spPr>
          <a:xfrm>
            <a:off x="89535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4. Compute in blocks</a:t>
            </a:r>
            <a:endParaRPr lang="en-US" sz="1500" dirty="0"/>
          </a:p>
        </p:txBody>
      </p:sp>
      <p:sp>
        <p:nvSpPr>
          <p:cNvPr id="14" name="Text 12"/>
          <p:cNvSpPr/>
          <p:nvPr/>
        </p:nvSpPr>
        <p:spPr>
          <a:xfrm>
            <a:off x="8981694" y="2039621"/>
            <a:ext cx="2673858" cy="180848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Blocks of 500 to 1,000 rows against all rows</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Only blocks on or above the diagonal, then mirrored</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Each finished block logged as a checkpoint</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One block timed first; numba if too slow</a:t>
            </a:r>
            <a:endParaRPr lang="en-US" sz="1300" dirty="0"/>
          </a:p>
        </p:txBody>
      </p:sp>
      <p:sp>
        <p:nvSpPr>
          <p:cNvPr id="15" name="Text 13"/>
          <p:cNvSpPr/>
          <p:nvPr/>
        </p:nvSpPr>
        <p:spPr>
          <a:xfrm>
            <a:off x="609600" y="5128261"/>
            <a:ext cx="10972800" cy="777240"/>
          </a:xfrm>
          <a:prstGeom prst="rect">
            <a:avLst/>
          </a:prstGeom>
          <a:solidFill>
            <a:srgbClr val="F5E6BD"/>
          </a:solidFill>
          <a:ln/>
        </p:spPr>
        <p:txBody>
          <a:bodyPr wrap="square" lIns="228600" tIns="139700" rIns="0" bIns="114300" rtlCol="0" anchor="t">
            <a:normAutofit/>
          </a:bodyPr>
          <a:lstStyle/>
          <a:p>
            <a:pPr algn="l" indent="0" marL="0">
              <a:lnSpc>
                <a:spcPts val="1960"/>
              </a:lnSpc>
              <a:buNone/>
            </a:pPr>
            <a:r>
              <a:rPr lang="en-US" sz="1400" dirty="0">
                <a:solidFill>
                  <a:srgbClr val="001A70"/>
                </a:solidFill>
                <a:latin typeface="Lato" pitchFamily="34" charset="0"/>
                <a:ea typeface="Lato" pitchFamily="34" charset="-122"/>
                <a:cs typeface="Lato" pitchFamily="34" charset="-120"/>
              </a:rPr>
              <a:t>Gower scales each numeric column by its range. The ranges are computed once on the full dataset, so every subsample used for persistent homology has distances on the same scale.</a:t>
            </a:r>
            <a:endParaRPr lang="en-US" sz="1400" dirty="0"/>
          </a:p>
        </p:txBody>
      </p:sp>
      <p:sp>
        <p:nvSpPr>
          <p:cNvPr id="16" name="Shape 14"/>
          <p:cNvSpPr/>
          <p:nvPr/>
        </p:nvSpPr>
        <p:spPr>
          <a:xfrm>
            <a:off x="635000" y="5128261"/>
            <a:ext cx="0" cy="777240"/>
          </a:xfrm>
          <a:prstGeom prst="line">
            <a:avLst/>
          </a:prstGeom>
          <a:noFill/>
          <a:ln w="50800">
            <a:solidFill>
              <a:srgbClr val="FFC72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Validating the Distance Matrix</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Checks before the matrix is used for persistent homology</a:t>
            </a:r>
            <a:endParaRPr lang="en-US" sz="1500" dirty="0"/>
          </a:p>
        </p:txBody>
      </p:sp>
      <p:sp>
        <p:nvSpPr>
          <p:cNvPr id="7" name="Text 5"/>
          <p:cNvSpPr/>
          <p:nvPr/>
        </p:nvSpPr>
        <p:spPr>
          <a:xfrm>
            <a:off x="609600" y="1455421"/>
            <a:ext cx="3522107" cy="469900"/>
          </a:xfrm>
          <a:prstGeom prst="rect">
            <a:avLst/>
          </a:prstGeom>
          <a:solidFill>
            <a:srgbClr val="003594"/>
          </a:solidFill>
          <a:ln/>
        </p:spPr>
        <p:txBody>
          <a:bodyPr wrap="square" lIns="152400" tIns="101600" rIns="55881"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Validation checks</a:t>
            </a:r>
            <a:endParaRPr lang="en-US" sz="1500" dirty="0"/>
          </a:p>
        </p:txBody>
      </p:sp>
      <p:sp>
        <p:nvSpPr>
          <p:cNvPr id="8" name="Text 6"/>
          <p:cNvSpPr/>
          <p:nvPr/>
        </p:nvSpPr>
        <p:spPr>
          <a:xfrm>
            <a:off x="643763" y="2039621"/>
            <a:ext cx="3587511" cy="1877060"/>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Symmetric, zero diagonal, all values in [0, 1], no NaN</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One random block compared against the gower package, using matching ranges</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Trims of the same model are close; a pickup and a city car are far apart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Histogram of sampled distances to detect one feature dominating</a:t>
            </a:r>
            <a:endParaRPr lang="en-US" sz="1350" dirty="0"/>
          </a:p>
        </p:txBody>
      </p:sp>
      <p:sp>
        <p:nvSpPr>
          <p:cNvPr id="9" name="Text 7"/>
          <p:cNvSpPr/>
          <p:nvPr/>
        </p:nvSpPr>
        <p:spPr>
          <a:xfrm>
            <a:off x="4334907" y="1455421"/>
            <a:ext cx="3522147" cy="469900"/>
          </a:xfrm>
          <a:prstGeom prst="rect">
            <a:avLst/>
          </a:prstGeom>
          <a:solidFill>
            <a:srgbClr val="003594"/>
          </a:solidFill>
          <a:ln/>
        </p:spPr>
        <p:txBody>
          <a:bodyPr wrap="square" lIns="152400" tIns="101600" rIns="5588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Low-information pairs</a:t>
            </a:r>
            <a:endParaRPr lang="en-US" sz="1500" dirty="0"/>
          </a:p>
        </p:txBody>
      </p:sp>
      <p:sp>
        <p:nvSpPr>
          <p:cNvPr id="10" name="Text 8"/>
          <p:cNvSpPr/>
          <p:nvPr/>
        </p:nvSpPr>
        <p:spPr>
          <a:xfrm>
            <a:off x="4369070" y="2039621"/>
            <a:ext cx="3587552" cy="1645603"/>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Count the shared non-missing features for each pair (W)</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Report the minimum W</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Report how many pairs fall below a floor, such as 10 of 50 features</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Pairs with few shared features have less reliable distances</a:t>
            </a:r>
            <a:endParaRPr lang="en-US" sz="1350" dirty="0"/>
          </a:p>
        </p:txBody>
      </p:sp>
      <p:sp>
        <p:nvSpPr>
          <p:cNvPr id="11" name="Text 9"/>
          <p:cNvSpPr/>
          <p:nvPr/>
        </p:nvSpPr>
        <p:spPr>
          <a:xfrm>
            <a:off x="8060254" y="1455421"/>
            <a:ext cx="3522107" cy="469900"/>
          </a:xfrm>
          <a:prstGeom prst="rect">
            <a:avLst/>
          </a:prstGeom>
          <a:solidFill>
            <a:srgbClr val="003594"/>
          </a:solidFill>
          <a:ln/>
        </p:spPr>
        <p:txBody>
          <a:bodyPr wrap="square" lIns="152400" tIns="101600" rIns="55881"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Saved outputs</a:t>
            </a:r>
            <a:endParaRPr lang="en-US" sz="1500" dirty="0"/>
          </a:p>
        </p:txBody>
      </p:sp>
      <p:sp>
        <p:nvSpPr>
          <p:cNvPr id="12" name="Text 10"/>
          <p:cNvSpPr/>
          <p:nvPr/>
        </p:nvSpPr>
        <p:spPr>
          <a:xfrm>
            <a:off x="8094417" y="2039621"/>
            <a:ext cx="3587511" cy="951230"/>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Distance matrix (.npy)</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ID lookup table</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Config file: feature lists, ranges, weights, and date or commit hash</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Persistent Homology on 30,000 Vehicles</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Multiple subsampling method from Cao and Monod (2026)</a:t>
            </a:r>
            <a:endParaRPr lang="en-US" sz="1500" dirty="0"/>
          </a:p>
        </p:txBody>
      </p:sp>
      <p:sp>
        <p:nvSpPr>
          <p:cNvPr id="7" name="Text 5"/>
          <p:cNvSpPr/>
          <p:nvPr/>
        </p:nvSpPr>
        <p:spPr>
          <a:xfrm>
            <a:off x="609600" y="1353821"/>
            <a:ext cx="10972800" cy="777240"/>
          </a:xfrm>
          <a:prstGeom prst="rect">
            <a:avLst/>
          </a:prstGeom>
          <a:solidFill>
            <a:srgbClr val="F5E6BD"/>
          </a:solidFill>
          <a:ln/>
        </p:spPr>
        <p:txBody>
          <a:bodyPr wrap="square" lIns="228600" tIns="139700" rIns="0" bIns="114300" rtlCol="0" anchor="t">
            <a:normAutofit/>
          </a:bodyPr>
          <a:lstStyle/>
          <a:p>
            <a:pPr algn="l" indent="0" marL="0">
              <a:lnSpc>
                <a:spcPts val="1960"/>
              </a:lnSpc>
              <a:buNone/>
            </a:pPr>
            <a:r>
              <a:rPr lang="en-US" sz="1400" dirty="0">
                <a:solidFill>
                  <a:srgbClr val="001A70"/>
                </a:solidFill>
                <a:latin typeface="Lato" pitchFamily="34" charset="0"/>
                <a:ea typeface="Lato" pitchFamily="34" charset="-122"/>
                <a:cs typeface="Lato" pitchFamily="34" charset="-120"/>
              </a:rPr>
              <a:t>A Vietoris–Rips filtration on 30,000 points grows combinatorially. Exact PH on the full dataset, even for H0 and H1 only, is not computable in reasonable time or memory.</a:t>
            </a:r>
            <a:endParaRPr lang="en-US" sz="1400" dirty="0"/>
          </a:p>
        </p:txBody>
      </p:sp>
      <p:sp>
        <p:nvSpPr>
          <p:cNvPr id="8" name="Shape 6"/>
          <p:cNvSpPr/>
          <p:nvPr/>
        </p:nvSpPr>
        <p:spPr>
          <a:xfrm>
            <a:off x="635000" y="1353821"/>
            <a:ext cx="0" cy="777240"/>
          </a:xfrm>
          <a:prstGeom prst="line">
            <a:avLst/>
          </a:prstGeom>
          <a:noFill/>
          <a:ln w="50800">
            <a:solidFill>
              <a:srgbClr val="FFC72C"/>
            </a:solidFill>
            <a:prstDash val="solid"/>
          </a:ln>
        </p:spPr>
      </p:sp>
      <p:sp>
        <p:nvSpPr>
          <p:cNvPr id="9" name="Text 7"/>
          <p:cNvSpPr/>
          <p:nvPr/>
        </p:nvSpPr>
        <p:spPr>
          <a:xfrm>
            <a:off x="609600" y="230886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1. Subsample</a:t>
            </a:r>
            <a:endParaRPr lang="en-US" sz="1500" dirty="0"/>
          </a:p>
        </p:txBody>
      </p:sp>
      <p:sp>
        <p:nvSpPr>
          <p:cNvPr id="10" name="Text 8"/>
          <p:cNvSpPr/>
          <p:nvPr/>
        </p:nvSpPr>
        <p:spPr>
          <a:xfrm>
            <a:off x="609600" y="2867661"/>
            <a:ext cx="2707767"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Draw B independent random subsamples of n points each, with n much smaller than 30,000</a:t>
            </a:r>
            <a:endParaRPr lang="en-US" sz="1300" dirty="0"/>
          </a:p>
        </p:txBody>
      </p:sp>
      <p:sp>
        <p:nvSpPr>
          <p:cNvPr id="11" name="Text 9"/>
          <p:cNvSpPr/>
          <p:nvPr/>
        </p:nvSpPr>
        <p:spPr>
          <a:xfrm>
            <a:off x="3390900" y="230886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2. Compute</a:t>
            </a:r>
            <a:endParaRPr lang="en-US" sz="1500" dirty="0"/>
          </a:p>
        </p:txBody>
      </p:sp>
      <p:sp>
        <p:nvSpPr>
          <p:cNvPr id="12" name="Text 10"/>
          <p:cNvSpPr/>
          <p:nvPr/>
        </p:nvSpPr>
        <p:spPr>
          <a:xfrm>
            <a:off x="3390900" y="2867661"/>
            <a:ext cx="270776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Compute a persistence diagram for each subsample</a:t>
            </a:r>
            <a:endParaRPr lang="en-US" sz="1300" dirty="0"/>
          </a:p>
        </p:txBody>
      </p:sp>
      <p:sp>
        <p:nvSpPr>
          <p:cNvPr id="13" name="Text 11"/>
          <p:cNvSpPr/>
          <p:nvPr/>
        </p:nvSpPr>
        <p:spPr>
          <a:xfrm>
            <a:off x="6172200" y="230886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3. Average</a:t>
            </a:r>
            <a:endParaRPr lang="en-US" sz="1500" dirty="0"/>
          </a:p>
        </p:txBody>
      </p:sp>
      <p:sp>
        <p:nvSpPr>
          <p:cNvPr id="14" name="Text 12"/>
          <p:cNvSpPr/>
          <p:nvPr/>
        </p:nvSpPr>
        <p:spPr>
          <a:xfrm>
            <a:off x="6172200" y="2867661"/>
            <a:ext cx="270776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Average the B results into one summary</a:t>
            </a:r>
            <a:endParaRPr lang="en-US" sz="1300" dirty="0"/>
          </a:p>
        </p:txBody>
      </p:sp>
      <p:sp>
        <p:nvSpPr>
          <p:cNvPr id="15" name="Text 13"/>
          <p:cNvSpPr/>
          <p:nvPr/>
        </p:nvSpPr>
        <p:spPr>
          <a:xfrm>
            <a:off x="8953500" y="230886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4. Estimate</a:t>
            </a:r>
            <a:endParaRPr lang="en-US" sz="1500" dirty="0"/>
          </a:p>
        </p:txBody>
      </p:sp>
      <p:sp>
        <p:nvSpPr>
          <p:cNvPr id="16" name="Text 14"/>
          <p:cNvSpPr/>
          <p:nvPr/>
        </p:nvSpPr>
        <p:spPr>
          <a:xfrm>
            <a:off x="8953500" y="2867661"/>
            <a:ext cx="270776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Use the summary as an estimate of the full dataset’s PH</a:t>
            </a:r>
            <a:endParaRPr lang="en-US" sz="1300" dirty="0"/>
          </a:p>
        </p:txBody>
      </p:sp>
      <p:sp>
        <p:nvSpPr>
          <p:cNvPr id="17" name="Shape 15"/>
          <p:cNvSpPr/>
          <p:nvPr/>
        </p:nvSpPr>
        <p:spPr>
          <a:xfrm>
            <a:off x="615950" y="4869179"/>
            <a:ext cx="5372100" cy="1029970"/>
          </a:xfrm>
          <a:prstGeom prst="rect">
            <a:avLst/>
          </a:prstGeom>
          <a:noFill/>
          <a:ln w="12700">
            <a:solidFill>
              <a:srgbClr val="003594"/>
            </a:solidFill>
            <a:prstDash val="solid"/>
          </a:ln>
        </p:spPr>
      </p:sp>
      <p:sp>
        <p:nvSpPr>
          <p:cNvPr id="18" name="Text 16"/>
          <p:cNvSpPr/>
          <p:nvPr/>
        </p:nvSpPr>
        <p:spPr>
          <a:xfrm>
            <a:off x="800100" y="5015229"/>
            <a:ext cx="51539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3594"/>
                </a:solidFill>
                <a:latin typeface="Lato" pitchFamily="34" charset="0"/>
                <a:ea typeface="Lato" pitchFamily="34" charset="-122"/>
                <a:cs typeface="Lato" pitchFamily="34" charset="-120"/>
              </a:rPr>
              <a:t>Error from variance</a:t>
            </a:r>
            <a:endParaRPr lang="en-US" sz="1500" dirty="0"/>
          </a:p>
        </p:txBody>
      </p:sp>
      <p:sp>
        <p:nvSpPr>
          <p:cNvPr id="19" name="Text 17"/>
          <p:cNvSpPr/>
          <p:nvPr/>
        </p:nvSpPr>
        <p:spPr>
          <a:xfrm>
            <a:off x="800100" y="5307329"/>
            <a:ext cx="515391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Comes from which points were sampled. Shrinks as B grows, at a rate of about 1/√B.</a:t>
            </a:r>
            <a:endParaRPr lang="en-US" sz="1300" dirty="0"/>
          </a:p>
        </p:txBody>
      </p:sp>
      <p:sp>
        <p:nvSpPr>
          <p:cNvPr id="20" name="Shape 18"/>
          <p:cNvSpPr/>
          <p:nvPr/>
        </p:nvSpPr>
        <p:spPr>
          <a:xfrm>
            <a:off x="6203950" y="4869179"/>
            <a:ext cx="5372100" cy="1029970"/>
          </a:xfrm>
          <a:prstGeom prst="rect">
            <a:avLst/>
          </a:prstGeom>
          <a:noFill/>
          <a:ln w="12700">
            <a:solidFill>
              <a:srgbClr val="003594"/>
            </a:solidFill>
            <a:prstDash val="solid"/>
          </a:ln>
        </p:spPr>
      </p:sp>
      <p:sp>
        <p:nvSpPr>
          <p:cNvPr id="21" name="Text 19"/>
          <p:cNvSpPr/>
          <p:nvPr/>
        </p:nvSpPr>
        <p:spPr>
          <a:xfrm>
            <a:off x="6388100" y="5015229"/>
            <a:ext cx="51539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3594"/>
                </a:solidFill>
                <a:latin typeface="Lato" pitchFamily="34" charset="0"/>
                <a:ea typeface="Lato" pitchFamily="34" charset="-122"/>
                <a:cs typeface="Lato" pitchFamily="34" charset="-120"/>
              </a:rPr>
              <a:t>Error from bias</a:t>
            </a:r>
            <a:endParaRPr lang="en-US" sz="1500" dirty="0"/>
          </a:p>
        </p:txBody>
      </p:sp>
      <p:sp>
        <p:nvSpPr>
          <p:cNvPr id="22" name="Text 20"/>
          <p:cNvSpPr/>
          <p:nvPr/>
        </p:nvSpPr>
        <p:spPr>
          <a:xfrm>
            <a:off x="6388100" y="5307329"/>
            <a:ext cx="515391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01A70"/>
                </a:solidFill>
                <a:latin typeface="Lato" pitchFamily="34" charset="0"/>
                <a:ea typeface="Lato" pitchFamily="34" charset="-122"/>
                <a:cs typeface="Lato" pitchFamily="34" charset="-120"/>
              </a:rPr>
              <a:t>The gap between the PH of an n-point subsample and the PH of the full dataset. Shrinks as n grows.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Three Ways to Average Persistence Diagrams</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Representations covered in the paper</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17321"/>
          <a:ext cx="10960100" cy="2824480"/>
        </p:xfrm>
        <a:graphic>
          <a:graphicData uri="http://schemas.openxmlformats.org/drawingml/2006/table">
            <a:tbl>
              <a:tblPr/>
              <a:tblGrid>
                <a:gridCol w="2411222"/>
                <a:gridCol w="3507232"/>
                <a:gridCol w="2849626"/>
                <a:gridCol w="2192020"/>
              </a:tblGrid>
              <a:tr h="359410">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Representation</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Averaging</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Convergence guarantee</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Readability</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82169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Hölder continuous vectorizations (landscapes, images, kernels)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Each diagram turned into a function or vector; ordinary pointwise mean</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Yes: variance about 1/√B plus a bias term in n</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Low; used as input to statistics or ML</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82169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Mean persistence measure</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Each diagram treated as point masses at its (birth, death) points; all points pooled with weight 1/B</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Yes: Theorem 11 covers Vietoris–Rips on a finite dataset</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Medium; a density heatmap</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2169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Fréchet mean of diagrams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The diagram closest on average to all B diagrams; iterative optimization with local minima</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Bias bound only; no variance rate</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High; an actual diagram</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bl>
          </a:graphicData>
        </a:graphic>
      </p:graphicFrame>
      <p:sp>
        <p:nvSpPr>
          <p:cNvPr id="8" name="Text 5"/>
          <p:cNvSpPr/>
          <p:nvPr/>
        </p:nvSpPr>
        <p:spPr>
          <a:xfrm>
            <a:off x="650494" y="5212079"/>
            <a:ext cx="11254994" cy="718820"/>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001A70"/>
                </a:solidFill>
                <a:latin typeface="Lato" pitchFamily="34" charset="0"/>
                <a:ea typeface="Lato" pitchFamily="34" charset="-122"/>
                <a:cs typeface="Lato" pitchFamily="34" charset="-120"/>
              </a:rPr>
              <a:t>In the paper’s experiments, the mean persistence measure was more accurate and more robust to noise than the Fréchet mean (Appendix H).</a:t>
            </a:r>
            <a:endParaRPr lang="en-US" sz="1300" dirty="0"/>
          </a:p>
          <a:p>
            <a:pPr algn="l" marL="162306" indent="-162306">
              <a:lnSpc>
                <a:spcPts val="1820"/>
              </a:lnSpc>
              <a:buSzPct val="100000"/>
              <a:buChar char="•"/>
            </a:pPr>
            <a:r>
              <a:rPr lang="en-US" sz="1300" dirty="0">
                <a:solidFill>
                  <a:srgbClr val="001A70"/>
                </a:solidFill>
                <a:latin typeface="Lato" pitchFamily="34" charset="0"/>
                <a:ea typeface="Lato" pitchFamily="34" charset="-122"/>
                <a:cs typeface="Lato" pitchFamily="34" charset="-120"/>
              </a:rPr>
              <a:t>The method was tested on synthetic shapes (torus, sphere, annulus), finite metric spaces (HIV genomic data with Hamming distance, a weighted gene network), and 3D point clouds of 30,000 to 480,000 points.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Methods We Are Using from the Paper</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Part 1 of 2: distance, sampling, filtration, and main summary</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17321"/>
          <a:ext cx="10960100" cy="3543300"/>
        </p:xfrm>
        <a:graphic>
          <a:graphicData uri="http://schemas.openxmlformats.org/drawingml/2006/table">
            <a:tbl>
              <a:tblPr/>
              <a:tblGrid>
                <a:gridCol w="1863217"/>
                <a:gridCol w="4164838"/>
                <a:gridCol w="4932045"/>
              </a:tblGrid>
              <a:tr h="359410">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Choice</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What we will do</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Why</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Distance</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Full 30,000 × 30,000 Gower matrix in float32 (about 3.6 GB), stored on disk</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Every subsample uses distances on one scale; Mapper reuses the same matrix</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Subsamples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Slice D[idx, idx] for each subsample, drawn uniformly without replacement</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Matches the paper’s sampling setup; slicing is nearly instant</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2169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Filtration</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Vietoris–Rips with Ripser, distance_matrix=True</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Rips needs only pairwise distances. The paper’s HIV and gene network experiments show the method works on finite metric spaces</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Homology</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H0 and H1</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H0 (clusters) and H1 (loops) answer our question; H2 adds heavy computation for little interpretive value</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Main summary</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Mean persistence measure, shown as a (birth, death) heatmap</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Theorem 11 covers our setting; it was the most accurate and robust option in the paper’s experiments</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Methods We Are Using from the Paper</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Part 2 of 2: readable summary, tuning parameters, and robustness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17321"/>
          <a:ext cx="10960100" cy="3081020"/>
        </p:xfrm>
        <a:graphic>
          <a:graphicData uri="http://schemas.openxmlformats.org/drawingml/2006/table">
            <a:tbl>
              <a:tblPr/>
              <a:tblGrid>
                <a:gridCol w="1863217"/>
                <a:gridCol w="4164838"/>
                <a:gridCol w="4932045"/>
              </a:tblGrid>
              <a:tr h="359410">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Choice</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What we will do</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Why</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Readable summary</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Fréchet mean, mainly for H1, using GUDHI</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Gives a diagram readers can interpret directly; used as an illustration since it lacks a variance guarantee</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Exponent p</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p = 2</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Larger p made distances too small to be informative in the paper’s sphere experiments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Subsample size n</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Largest n that runs in acceptable time, from timing n = 500, 1,000, and 2,000</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n controls bias and runtime; the paper’s timings are on Euclidean data, so we measure our own</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Subsamples B</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Increase until the stopping rule is met, with a minimum of 20</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The paper’s consecutive-change stopping rule; the minimum guards against a single quiet step</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41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Robustness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Rerun with a different seed and a different n</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Confirms the summary does not depend on one run’s randomness</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bl>
          </a:graphicData>
        </a:graphic>
      </p:graphicFrame>
      <p:sp>
        <p:nvSpPr>
          <p:cNvPr id="8" name="Text 5"/>
          <p:cNvSpPr/>
          <p:nvPr/>
        </p:nvSpPr>
        <p:spPr>
          <a:xfrm>
            <a:off x="609600" y="5128264"/>
            <a:ext cx="10972800" cy="777240"/>
          </a:xfrm>
          <a:prstGeom prst="rect">
            <a:avLst/>
          </a:prstGeom>
          <a:solidFill>
            <a:srgbClr val="F5E6BD"/>
          </a:solidFill>
          <a:ln/>
        </p:spPr>
        <p:txBody>
          <a:bodyPr wrap="square" lIns="228600" tIns="139700" rIns="0" bIns="114300" rtlCol="0" anchor="t">
            <a:normAutofit/>
          </a:bodyPr>
          <a:lstStyle/>
          <a:p>
            <a:pPr algn="l" indent="0" marL="0">
              <a:lnSpc>
                <a:spcPts val="1960"/>
              </a:lnSpc>
              <a:buNone/>
            </a:pPr>
            <a:r>
              <a:rPr lang="en-US" sz="1400" dirty="0">
                <a:solidFill>
                  <a:srgbClr val="001A70"/>
                </a:solidFill>
                <a:latin typeface="Lato" pitchFamily="34" charset="0"/>
                <a:ea typeface="Lato" pitchFamily="34" charset="-122"/>
                <a:cs typeface="Lato" pitchFamily="34" charset="-120"/>
              </a:rPr>
              <a:t>The paper’s convergence proofs assume Euclidean point clouds, and Gower distances are not Euclidean. We rely on the paper’s experiments on non-Euclidean metric spaces to justify the method, and on our robustness checks as evidence for our results.</a:t>
            </a:r>
            <a:endParaRPr lang="en-US" sz="1400" dirty="0"/>
          </a:p>
        </p:txBody>
      </p:sp>
      <p:sp>
        <p:nvSpPr>
          <p:cNvPr id="9" name="Shape 6"/>
          <p:cNvSpPr/>
          <p:nvPr/>
        </p:nvSpPr>
        <p:spPr>
          <a:xfrm>
            <a:off x="635000" y="5128264"/>
            <a:ext cx="0" cy="777240"/>
          </a:xfrm>
          <a:prstGeom prst="line">
            <a:avLst/>
          </a:prstGeom>
          <a:noFill/>
          <a:ln w="50800">
            <a:solidFill>
              <a:srgbClr val="FFC72C"/>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Parts of the Paper We Are Not Using</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These parts serve continuous shapes or statistical comparison; our goal is to describe one finite dataset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417321"/>
          <a:ext cx="10960100" cy="2978150"/>
        </p:xfrm>
        <a:graphic>
          <a:graphicData uri="http://schemas.openxmlformats.org/drawingml/2006/table">
            <a:tbl>
              <a:tblPr/>
              <a:tblGrid>
                <a:gridCol w="3726434"/>
                <a:gridCol w="7233666"/>
              </a:tblGrid>
              <a:tr h="359410">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Not used</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820"/>
                        </a:lnSpc>
                        <a:buNone/>
                      </a:pPr>
                      <a:r>
                        <a:rPr lang="en-US" sz="1300" b="1" dirty="0">
                          <a:solidFill>
                            <a:srgbClr val="FFFFFF"/>
                          </a:solidFill>
                          <a:latin typeface="Lato" pitchFamily="34" charset="0"/>
                          <a:ea typeface="Lato" pitchFamily="34" charset="-122"/>
                          <a:cs typeface="Lato" pitchFamily="34" charset="-120"/>
                        </a:rPr>
                        <a:t>Reason</a:t>
                      </a:r>
                      <a:endParaRPr lang="en-US" sz="1300" dirty="0">
                        <a:latin typeface="Lato" charset="0"/>
                        <a:ea typeface="Lato" charset="0"/>
                        <a:cs typeface="Lato" charset="0"/>
                      </a:endParaRPr>
                    </a:p>
                  </a:txBody>
                  <a:tcPr marL="57785" marR="57785" marT="57785" marB="57785"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Čech filtration and compact-space theory (Section 3.2.2)</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Applies to sampling from a continuous shape such as a torus; we have a finite dataset and only pairwise distances</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59055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Vectorizations as the main summary</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Best for comparing groups of diagrams; a possible extension, such as a permutation test of sedans against SUVs (Section 6)</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41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Fréchet mean as the main result</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No proven variance rate; can add artificial noise near the diagonal</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5941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Large p values (5, 7, 10)</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Distances become too small for the stopping rule to work</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41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H2 and higher</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Expensive to compute and hard to interpret for vehicle specifications</a:t>
                      </a:r>
                      <a:endParaRPr lang="en-US" sz="1300" dirty="0">
                        <a:latin typeface="Lato" charset="0"/>
                        <a:ea typeface="Lato" charset="0"/>
                        <a:cs typeface="Lato" charset="0"/>
                      </a:endParaRPr>
                    </a:p>
                  </a:txBody>
                  <a:tcPr marL="57785" marR="57785" marT="57785" marB="57785"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59410">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Subsampling for Mapper</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01A70"/>
                          </a:solidFill>
                          <a:latin typeface="Lato" pitchFamily="34" charset="0"/>
                          <a:ea typeface="Lato" pitchFamily="34" charset="-122"/>
                          <a:cs typeface="Lato" pitchFamily="34" charset="-120"/>
                        </a:rPr>
                        <a:t>Averaging discards the per-vehicle structure Mapper needs; Mapper runs on all 30,000 vehicles</a:t>
                      </a:r>
                      <a:endParaRPr lang="en-US" sz="1300" dirty="0">
                        <a:latin typeface="Lato" charset="0"/>
                        <a:ea typeface="Lato" charset="0"/>
                        <a:cs typeface="Lat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Persistent Homology Procedure</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Steps 1 to 4: setup and main loop</a:t>
            </a:r>
            <a:endParaRPr lang="en-US" sz="1500" dirty="0"/>
          </a:p>
        </p:txBody>
      </p:sp>
      <p:sp>
        <p:nvSpPr>
          <p:cNvPr id="7" name="Text 5"/>
          <p:cNvSpPr/>
          <p:nvPr/>
        </p:nvSpPr>
        <p:spPr>
          <a:xfrm>
            <a:off x="6096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1. Timing test</a:t>
            </a:r>
            <a:endParaRPr lang="en-US" sz="1500" dirty="0"/>
          </a:p>
        </p:txBody>
      </p:sp>
      <p:sp>
        <p:nvSpPr>
          <p:cNvPr id="8" name="Text 6"/>
          <p:cNvSpPr/>
          <p:nvPr/>
        </p:nvSpPr>
        <p:spPr>
          <a:xfrm>
            <a:off x="637794" y="2039621"/>
            <a:ext cx="2673858" cy="113982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Time one subsample with ripser, maxdim=1, at n = 500, 1,000, and 2,000</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Choose the largest n with an acceptable time per subsample</a:t>
            </a:r>
            <a:endParaRPr lang="en-US" sz="1300" dirty="0"/>
          </a:p>
        </p:txBody>
      </p:sp>
      <p:sp>
        <p:nvSpPr>
          <p:cNvPr id="9" name="Text 7"/>
          <p:cNvSpPr/>
          <p:nvPr/>
        </p:nvSpPr>
        <p:spPr>
          <a:xfrm>
            <a:off x="33909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2. Fixed settings</a:t>
            </a:r>
            <a:endParaRPr lang="en-US" sz="1500" dirty="0"/>
          </a:p>
        </p:txBody>
      </p:sp>
      <p:sp>
        <p:nvSpPr>
          <p:cNvPr id="10" name="Text 8"/>
          <p:cNvSpPr/>
          <p:nvPr/>
        </p:nvSpPr>
        <p:spPr>
          <a:xfrm>
            <a:off x="3419094" y="2039621"/>
            <a:ext cx="2673858" cy="113982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p = 2</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H0 and H1</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The chosen n</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A fixed random seed</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All settings recorded</a:t>
            </a:r>
            <a:endParaRPr lang="en-US" sz="1300" dirty="0"/>
          </a:p>
        </p:txBody>
      </p:sp>
      <p:sp>
        <p:nvSpPr>
          <p:cNvPr id="11" name="Text 9"/>
          <p:cNvSpPr/>
          <p:nvPr/>
        </p:nvSpPr>
        <p:spPr>
          <a:xfrm>
            <a:off x="61722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3. Sampling</a:t>
            </a:r>
            <a:endParaRPr lang="en-US" sz="1500" dirty="0"/>
          </a:p>
        </p:txBody>
      </p:sp>
      <p:sp>
        <p:nvSpPr>
          <p:cNvPr id="12" name="Text 10"/>
          <p:cNvSpPr/>
          <p:nvPr/>
        </p:nvSpPr>
        <p:spPr>
          <a:xfrm>
            <a:off x="6200394" y="2039621"/>
            <a:ext cx="2673858" cy="91694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Each subsample drawn uniformly without replacement, independent of the others</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Matches the paper’s setup</a:t>
            </a:r>
            <a:endParaRPr lang="en-US" sz="1300" dirty="0"/>
          </a:p>
        </p:txBody>
      </p:sp>
      <p:sp>
        <p:nvSpPr>
          <p:cNvPr id="13" name="Text 11"/>
          <p:cNvSpPr/>
          <p:nvPr/>
        </p:nvSpPr>
        <p:spPr>
          <a:xfrm>
            <a:off x="89535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4. Main loop</a:t>
            </a:r>
            <a:endParaRPr lang="en-US" sz="1500" dirty="0"/>
          </a:p>
        </p:txBody>
      </p:sp>
      <p:sp>
        <p:nvSpPr>
          <p:cNvPr id="14" name="Text 12"/>
          <p:cNvSpPr/>
          <p:nvPr/>
        </p:nvSpPr>
        <p:spPr>
          <a:xfrm>
            <a:off x="8981694" y="2039621"/>
            <a:ext cx="2673858" cy="180848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Slice D[np.ix_(idx, idx)]</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Run ripser(D_sub, distance_matrix=True, maxdim=1)</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Drop the infinite H0 bar and save the diagrams</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Run subsamples in parallel with joblib</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Persistent Homology Procedure</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Steps 5 to 8: stopping rule, aggregation, robustness, and interpretation</a:t>
            </a:r>
            <a:endParaRPr lang="en-US" sz="1500" dirty="0"/>
          </a:p>
        </p:txBody>
      </p:sp>
      <p:sp>
        <p:nvSpPr>
          <p:cNvPr id="7" name="Text 5"/>
          <p:cNvSpPr/>
          <p:nvPr/>
        </p:nvSpPr>
        <p:spPr>
          <a:xfrm>
            <a:off x="6096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5. Stopping rule</a:t>
            </a:r>
            <a:endParaRPr lang="en-US" sz="1500" dirty="0"/>
          </a:p>
        </p:txBody>
      </p:sp>
      <p:sp>
        <p:nvSpPr>
          <p:cNvPr id="8" name="Text 6"/>
          <p:cNvSpPr/>
          <p:nvPr/>
        </p:nvSpPr>
        <p:spPr>
          <a:xfrm>
            <a:off x="637794" y="2039621"/>
            <a:ext cx="2673858" cy="203136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After each subsample, recompute the mean persistence measure</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Measure the change from the previous step: optimal transport (POT), or a binned (birth, death) grid</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Stop when the change stays small for several steps, with B of at least 20</a:t>
            </a:r>
            <a:endParaRPr lang="en-US" sz="1300" dirty="0"/>
          </a:p>
        </p:txBody>
      </p:sp>
      <p:sp>
        <p:nvSpPr>
          <p:cNvPr id="9" name="Text 7"/>
          <p:cNvSpPr/>
          <p:nvPr/>
        </p:nvSpPr>
        <p:spPr>
          <a:xfrm>
            <a:off x="33909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6. Aggregate</a:t>
            </a:r>
            <a:endParaRPr lang="en-US" sz="1500" dirty="0"/>
          </a:p>
        </p:txBody>
      </p:sp>
      <p:sp>
        <p:nvSpPr>
          <p:cNvPr id="10" name="Text 8"/>
          <p:cNvSpPr/>
          <p:nvPr/>
        </p:nvSpPr>
        <p:spPr>
          <a:xfrm>
            <a:off x="3419094" y="2039621"/>
            <a:ext cx="2673858" cy="180848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Mean persistence measure: pool all points with weight 1/B; heatmaps for H0 and H1</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Fréchet mean with GUDHI’s lagrangian_barycenter, mainly for H1</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Optional: quantize the measure into one diagram</a:t>
            </a:r>
            <a:endParaRPr lang="en-US" sz="1300" dirty="0"/>
          </a:p>
        </p:txBody>
      </p:sp>
      <p:sp>
        <p:nvSpPr>
          <p:cNvPr id="11" name="Text 9"/>
          <p:cNvSpPr/>
          <p:nvPr/>
        </p:nvSpPr>
        <p:spPr>
          <a:xfrm>
            <a:off x="61722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7. Robustness</a:t>
            </a:r>
            <a:endParaRPr lang="en-US" sz="1500" dirty="0"/>
          </a:p>
        </p:txBody>
      </p:sp>
      <p:sp>
        <p:nvSpPr>
          <p:cNvPr id="12" name="Text 10"/>
          <p:cNvSpPr/>
          <p:nvPr/>
        </p:nvSpPr>
        <p:spPr>
          <a:xfrm>
            <a:off x="6200394" y="2039621"/>
            <a:ext cx="2673858" cy="916940"/>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Rerun with a different seed</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Rerun once with a different n</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If the summaries differ, increase B or n</a:t>
            </a:r>
            <a:endParaRPr lang="en-US" sz="1300" dirty="0"/>
          </a:p>
        </p:txBody>
      </p:sp>
      <p:sp>
        <p:nvSpPr>
          <p:cNvPr id="13" name="Text 11"/>
          <p:cNvSpPr/>
          <p:nvPr/>
        </p:nvSpPr>
        <p:spPr>
          <a:xfrm>
            <a:off x="8953500" y="1455421"/>
            <a:ext cx="2628900" cy="469900"/>
          </a:xfrm>
          <a:prstGeom prst="rect">
            <a:avLst/>
          </a:prstGeom>
          <a:solidFill>
            <a:srgbClr val="003594"/>
          </a:solidFill>
          <a:ln/>
        </p:spPr>
        <p:txBody>
          <a:bodyPr wrap="square" lIns="139700" tIns="101600" rIns="69215"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8. Interpret</a:t>
            </a:r>
            <a:endParaRPr lang="en-US" sz="1500" dirty="0"/>
          </a:p>
        </p:txBody>
      </p:sp>
      <p:sp>
        <p:nvSpPr>
          <p:cNvPr id="14" name="Text 12"/>
          <p:cNvSpPr/>
          <p:nvPr/>
        </p:nvSpPr>
        <p:spPr>
          <a:xfrm>
            <a:off x="8981694" y="2039621"/>
            <a:ext cx="2673858" cy="1585595"/>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H0: Gower distances where death times concentrate</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H1: loops far from the diagonal and the vehicles involved, or a report that there are none</a:t>
            </a:r>
            <a:endParaRPr lang="en-US" sz="1300" dirty="0"/>
          </a:p>
          <a:p>
            <a:pPr algn="l" marL="162306" indent="-162306">
              <a:lnSpc>
                <a:spcPts val="1755"/>
              </a:lnSpc>
              <a:buSzPct val="100000"/>
              <a:buChar char="•"/>
            </a:pPr>
            <a:r>
              <a:rPr lang="en-US" sz="1300" dirty="0">
                <a:solidFill>
                  <a:srgbClr val="001A70"/>
                </a:solidFill>
                <a:latin typeface="Lato" pitchFamily="34" charset="0"/>
                <a:ea typeface="Lato" pitchFamily="34" charset="-122"/>
                <a:cs typeface="Lato" pitchFamily="34" charset="-120"/>
              </a:rPr>
              <a:t>Save diagrams, grids, figures, and config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How Persistent Homology Connects to Mapper</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Both steps read the same Gower matrix</a:t>
            </a:r>
            <a:endParaRPr lang="en-US" sz="1500" dirty="0"/>
          </a:p>
        </p:txBody>
      </p:sp>
      <p:sp>
        <p:nvSpPr>
          <p:cNvPr id="7" name="Text 5"/>
          <p:cNvSpPr/>
          <p:nvPr/>
        </p:nvSpPr>
        <p:spPr>
          <a:xfrm>
            <a:off x="609600" y="1905000"/>
            <a:ext cx="1905000" cy="2921000"/>
          </a:xfrm>
          <a:prstGeom prst="rect">
            <a:avLst/>
          </a:prstGeom>
          <a:solidFill>
            <a:srgbClr val="001A70"/>
          </a:solidFill>
          <a:ln/>
        </p:spPr>
        <p:txBody>
          <a:bodyPr wrap="square" lIns="127000" tIns="152400" rIns="127000" bIns="152400" rtlCol="0" anchor="ctr">
            <a:normAutofit/>
          </a:bodyPr>
          <a:lstStyle/>
          <a:p>
            <a:pPr algn="ctr" indent="0" marL="0">
              <a:lnSpc>
                <a:spcPts val="2080"/>
              </a:lnSpc>
              <a:buNone/>
            </a:pPr>
            <a:r>
              <a:rPr lang="en-US" sz="1600" b="1" dirty="0">
                <a:solidFill>
                  <a:srgbClr val="FFFFFF"/>
                </a:solidFill>
                <a:latin typeface="Lato" pitchFamily="34" charset="0"/>
                <a:ea typeface="Lato" pitchFamily="34" charset="-122"/>
                <a:cs typeface="Lato" pitchFamily="34" charset="-120"/>
              </a:rPr>
              <a:t>Gower distance matrix</a:t>
            </a:r>
            <a:endParaRPr lang="en-US" sz="1600" dirty="0"/>
          </a:p>
          <a:p>
            <a:pPr algn="ctr" indent="0" marL="0">
              <a:lnSpc>
                <a:spcPts val="2080"/>
              </a:lnSpc>
              <a:buNone/>
            </a:pPr>
            <a:r>
              <a:rPr lang="en-US" sz="1600" b="1" dirty="0">
                <a:solidFill>
                  <a:srgbClr val="FFFFFF"/>
                </a:solidFill>
                <a:latin typeface="Lato" pitchFamily="34" charset="0"/>
                <a:ea typeface="Lato" pitchFamily="34" charset="-122"/>
                <a:cs typeface="Lato" pitchFamily="34" charset="-120"/>
              </a:rPr>
              <a:t>30,000 × 30,000</a:t>
            </a:r>
            <a:endParaRPr lang="en-US" sz="1600" dirty="0"/>
          </a:p>
        </p:txBody>
      </p:sp>
      <p:sp>
        <p:nvSpPr>
          <p:cNvPr id="8" name="Text 6"/>
          <p:cNvSpPr/>
          <p:nvPr/>
        </p:nvSpPr>
        <p:spPr>
          <a:xfrm>
            <a:off x="3175000" y="1905000"/>
            <a:ext cx="2159000" cy="952500"/>
          </a:xfrm>
          <a:prstGeom prst="rect">
            <a:avLst/>
          </a:prstGeom>
          <a:solidFill>
            <a:srgbClr val="F5E6BD"/>
          </a:solidFill>
          <a:ln/>
        </p:spPr>
        <p:txBody>
          <a:bodyPr wrap="square" lIns="98425" tIns="127000" rIns="98425" bIns="127000" rtlCol="0" anchor="ctr">
            <a:normAutofit/>
          </a:bodyPr>
          <a:lstStyle/>
          <a:p>
            <a:pPr algn="ctr" indent="0" marL="0">
              <a:lnSpc>
                <a:spcPts val="1820"/>
              </a:lnSpc>
              <a:buNone/>
            </a:pPr>
            <a:r>
              <a:rPr lang="en-US" sz="1400" b="1" dirty="0">
                <a:solidFill>
                  <a:srgbClr val="001A70"/>
                </a:solidFill>
                <a:latin typeface="Lato" pitchFamily="34" charset="0"/>
                <a:ea typeface="Lato" pitchFamily="34" charset="-122"/>
                <a:cs typeface="Lato" pitchFamily="34" charset="-120"/>
              </a:rPr>
              <a:t>PH on random subsamples (Ripser)</a:t>
            </a:r>
            <a:endParaRPr lang="en-US" sz="1400" dirty="0"/>
          </a:p>
        </p:txBody>
      </p:sp>
      <p:sp>
        <p:nvSpPr>
          <p:cNvPr id="9" name="Text 7"/>
          <p:cNvSpPr/>
          <p:nvPr/>
        </p:nvSpPr>
        <p:spPr>
          <a:xfrm>
            <a:off x="5969000" y="1905000"/>
            <a:ext cx="2159000" cy="952500"/>
          </a:xfrm>
          <a:prstGeom prst="rect">
            <a:avLst/>
          </a:prstGeom>
          <a:solidFill>
            <a:srgbClr val="F5E6BD"/>
          </a:solidFill>
          <a:ln/>
        </p:spPr>
        <p:txBody>
          <a:bodyPr wrap="square" lIns="127000" tIns="127000" rIns="127000" bIns="127000" rtlCol="0" anchor="ctr">
            <a:normAutofit/>
          </a:bodyPr>
          <a:lstStyle/>
          <a:p>
            <a:pPr algn="ctr" indent="0" marL="0">
              <a:lnSpc>
                <a:spcPts val="1820"/>
              </a:lnSpc>
              <a:buNone/>
            </a:pPr>
            <a:r>
              <a:rPr lang="en-US" sz="1400" b="1" dirty="0">
                <a:solidFill>
                  <a:srgbClr val="001A70"/>
                </a:solidFill>
                <a:latin typeface="Lato" pitchFamily="34" charset="0"/>
                <a:ea typeface="Lato" pitchFamily="34" charset="-122"/>
                <a:cs typeface="Lato" pitchFamily="34" charset="-120"/>
              </a:rPr>
              <a:t>H0 death times</a:t>
            </a:r>
            <a:endParaRPr lang="en-US" sz="1400" dirty="0"/>
          </a:p>
        </p:txBody>
      </p:sp>
      <p:sp>
        <p:nvSpPr>
          <p:cNvPr id="10" name="Text 8"/>
          <p:cNvSpPr/>
          <p:nvPr/>
        </p:nvSpPr>
        <p:spPr>
          <a:xfrm>
            <a:off x="8763000" y="1905000"/>
            <a:ext cx="2819400" cy="952500"/>
          </a:xfrm>
          <a:prstGeom prst="rect">
            <a:avLst/>
          </a:prstGeom>
          <a:solidFill>
            <a:srgbClr val="FFC72C"/>
          </a:solidFill>
          <a:ln/>
        </p:spPr>
        <p:txBody>
          <a:bodyPr wrap="square" lIns="115601" tIns="127000" rIns="115601" bIns="127000" rtlCol="0" anchor="ctr">
            <a:normAutofit/>
          </a:bodyPr>
          <a:lstStyle/>
          <a:p>
            <a:pPr algn="ctr" indent="0" marL="0">
              <a:lnSpc>
                <a:spcPts val="1820"/>
              </a:lnSpc>
              <a:buNone/>
            </a:pPr>
            <a:r>
              <a:rPr lang="en-US" sz="1400" b="1" dirty="0">
                <a:solidFill>
                  <a:srgbClr val="001A70"/>
                </a:solidFill>
                <a:latin typeface="Lato" pitchFamily="34" charset="0"/>
                <a:ea typeface="Lato" pitchFamily="34" charset="-122"/>
                <a:cs typeface="Lato" pitchFamily="34" charset="-120"/>
              </a:rPr>
              <a:t>Candidate ε values for DBSCAN</a:t>
            </a:r>
            <a:endParaRPr lang="en-US" sz="1400" dirty="0"/>
          </a:p>
        </p:txBody>
      </p:sp>
      <p:sp>
        <p:nvSpPr>
          <p:cNvPr id="11" name="Text 9"/>
          <p:cNvSpPr/>
          <p:nvPr/>
        </p:nvSpPr>
        <p:spPr>
          <a:xfrm>
            <a:off x="5969000" y="3873500"/>
            <a:ext cx="5613400" cy="952500"/>
          </a:xfrm>
          <a:prstGeom prst="rect">
            <a:avLst/>
          </a:prstGeom>
          <a:solidFill>
            <a:srgbClr val="003594"/>
          </a:solidFill>
          <a:ln/>
        </p:spPr>
        <p:txBody>
          <a:bodyPr wrap="square" lIns="46609" tIns="127000" rIns="46609" bIns="127000" rtlCol="0" anchor="ctr">
            <a:normAutofit/>
          </a:bodyPr>
          <a:lstStyle/>
          <a:p>
            <a:pPr algn="ctr" indent="0" marL="0">
              <a:lnSpc>
                <a:spcPts val="1820"/>
              </a:lnSpc>
              <a:buNone/>
            </a:pPr>
            <a:r>
              <a:rPr lang="en-US" sz="1400" b="1" dirty="0">
                <a:solidFill>
                  <a:srgbClr val="FFFFFF"/>
                </a:solidFill>
                <a:latin typeface="Lato" pitchFamily="34" charset="0"/>
                <a:ea typeface="Lato" pitchFamily="34" charset="-122"/>
                <a:cs typeface="Lato" pitchFamily="34" charset="-120"/>
              </a:rPr>
              <a:t>Mapper on all 30,000 vehicles: DBSCAN in each bin, then the network for the web app</a:t>
            </a:r>
            <a:endParaRPr lang="en-US" sz="1400" dirty="0"/>
          </a:p>
        </p:txBody>
      </p:sp>
      <p:pic>
        <p:nvPicPr>
          <p:cNvPr id="12" name="Image 0" descr="connector">    </p:cNvPr>
          <p:cNvPicPr>
            <a:picLocks noChangeAspect="1"/>
          </p:cNvPicPr>
          <p:nvPr/>
        </p:nvPicPr>
        <p:blipFill>
          <a:blip r:embed="rId1"/>
          <a:srcRect l="0" r="0" t="0" b="0"/>
          <a:stretch/>
        </p:blipFill>
        <p:spPr>
          <a:xfrm>
            <a:off x="2451100" y="2317750"/>
            <a:ext cx="787400" cy="127000"/>
          </a:xfrm>
          <a:prstGeom prst="rect">
            <a:avLst/>
          </a:prstGeom>
        </p:spPr>
      </p:pic>
      <p:pic>
        <p:nvPicPr>
          <p:cNvPr id="13" name="Image 1" descr="connector">    </p:cNvPr>
          <p:cNvPicPr>
            <a:picLocks noChangeAspect="1"/>
          </p:cNvPicPr>
          <p:nvPr/>
        </p:nvPicPr>
        <p:blipFill>
          <a:blip r:embed="rId2"/>
          <a:srcRect l="0" r="0" t="0" b="0"/>
          <a:stretch/>
        </p:blipFill>
        <p:spPr>
          <a:xfrm>
            <a:off x="5270500" y="2317750"/>
            <a:ext cx="762000" cy="127000"/>
          </a:xfrm>
          <a:prstGeom prst="rect">
            <a:avLst/>
          </a:prstGeom>
        </p:spPr>
      </p:pic>
      <p:pic>
        <p:nvPicPr>
          <p:cNvPr id="14" name="Image 2" descr="connector">    </p:cNvPr>
          <p:cNvPicPr>
            <a:picLocks noChangeAspect="1"/>
          </p:cNvPicPr>
          <p:nvPr/>
        </p:nvPicPr>
        <p:blipFill>
          <a:blip r:embed="rId3"/>
          <a:srcRect l="0" r="0" t="0" b="0"/>
          <a:stretch/>
        </p:blipFill>
        <p:spPr>
          <a:xfrm>
            <a:off x="8064500" y="2317750"/>
            <a:ext cx="762000" cy="127000"/>
          </a:xfrm>
          <a:prstGeom prst="rect">
            <a:avLst/>
          </a:prstGeom>
        </p:spPr>
      </p:pic>
      <p:pic>
        <p:nvPicPr>
          <p:cNvPr id="15" name="Image 3" descr="connector">    </p:cNvPr>
          <p:cNvPicPr>
            <a:picLocks noChangeAspect="1"/>
          </p:cNvPicPr>
          <p:nvPr/>
        </p:nvPicPr>
        <p:blipFill>
          <a:blip r:embed="rId4"/>
          <a:srcRect l="0" r="0" t="0" b="0"/>
          <a:stretch/>
        </p:blipFill>
        <p:spPr>
          <a:xfrm>
            <a:off x="10109200" y="2794000"/>
            <a:ext cx="127000" cy="1143000"/>
          </a:xfrm>
          <a:prstGeom prst="rect">
            <a:avLst/>
          </a:prstGeom>
        </p:spPr>
      </p:pic>
      <p:pic>
        <p:nvPicPr>
          <p:cNvPr id="16" name="Image 4" descr="connector">    </p:cNvPr>
          <p:cNvPicPr>
            <a:picLocks noChangeAspect="1"/>
          </p:cNvPicPr>
          <p:nvPr/>
        </p:nvPicPr>
        <p:blipFill>
          <a:blip r:embed="rId5"/>
          <a:srcRect l="0" r="0" t="0" b="0"/>
          <a:stretch/>
        </p:blipFill>
        <p:spPr>
          <a:xfrm>
            <a:off x="2451100" y="4286250"/>
            <a:ext cx="3581400" cy="127000"/>
          </a:xfrm>
          <a:prstGeom prst="rect">
            <a:avLst/>
          </a:prstGeom>
        </p:spPr>
      </p:pic>
      <p:sp>
        <p:nvSpPr>
          <p:cNvPr id="17" name="Text 10"/>
          <p:cNvSpPr/>
          <p:nvPr/>
        </p:nvSpPr>
        <p:spPr>
          <a:xfrm>
            <a:off x="2667000" y="3924300"/>
            <a:ext cx="32702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Lato" pitchFamily="34" charset="0"/>
                <a:ea typeface="Lato" pitchFamily="34" charset="-122"/>
                <a:cs typeface="Lato" pitchFamily="34" charset="-120"/>
              </a:rPr>
              <a:t>Full matrix, no subsampling</a:t>
            </a:r>
            <a:endParaRPr lang="en-US" sz="1200" dirty="0"/>
          </a:p>
        </p:txBody>
      </p:sp>
      <p:sp>
        <p:nvSpPr>
          <p:cNvPr id="18" name="Text 11"/>
          <p:cNvSpPr/>
          <p:nvPr/>
        </p:nvSpPr>
        <p:spPr>
          <a:xfrm>
            <a:off x="10350500" y="3225800"/>
            <a:ext cx="1257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Lato" pitchFamily="34" charset="0"/>
                <a:ea typeface="Lato" pitchFamily="34" charset="-122"/>
                <a:cs typeface="Lato" pitchFamily="34" charset="-120"/>
              </a:rPr>
              <a:t>Sets ε</a:t>
            </a:r>
            <a:endParaRPr lang="en-US" sz="1200" dirty="0"/>
          </a:p>
        </p:txBody>
      </p:sp>
      <p:sp>
        <p:nvSpPr>
          <p:cNvPr id="19" name="Text 12"/>
          <p:cNvSpPr/>
          <p:nvPr/>
        </p:nvSpPr>
        <p:spPr>
          <a:xfrm>
            <a:off x="609600" y="5080000"/>
            <a:ext cx="113019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1A70"/>
                </a:solidFill>
                <a:latin typeface="Lato" pitchFamily="34" charset="0"/>
                <a:ea typeface="Lato" pitchFamily="34" charset="-122"/>
                <a:cs typeface="Lato" pitchFamily="34" charset="-120"/>
              </a:rPr>
              <a:t>H0 death times are the Gower distances at which groups of vehicles merge. A concentration of deaths around one distance is a candidate for DBSCAN’s ε inside each Mapper bin. Any persistent H1 loops are compared against the Mapper network.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Limitations and Assumptions</a:t>
            </a:r>
            <a:endParaRPr lang="en-US" sz="3600" dirty="0"/>
          </a:p>
        </p:txBody>
      </p:sp>
      <p:sp>
        <p:nvSpPr>
          <p:cNvPr id="6" name="Text 4"/>
          <p:cNvSpPr/>
          <p:nvPr/>
        </p:nvSpPr>
        <p:spPr>
          <a:xfrm>
            <a:off x="609600" y="960121"/>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To be stated in the final write-up</a:t>
            </a:r>
            <a:endParaRPr lang="en-US" sz="1500" dirty="0"/>
          </a:p>
        </p:txBody>
      </p:sp>
      <p:sp>
        <p:nvSpPr>
          <p:cNvPr id="7" name="Text 5"/>
          <p:cNvSpPr/>
          <p:nvPr/>
        </p:nvSpPr>
        <p:spPr>
          <a:xfrm>
            <a:off x="609600" y="1455427"/>
            <a:ext cx="5384800" cy="469900"/>
          </a:xfrm>
          <a:prstGeom prst="rect">
            <a:avLst/>
          </a:prstGeom>
          <a:solidFill>
            <a:srgbClr val="003594"/>
          </a:solidFill>
          <a:ln/>
        </p:spPr>
        <p:txBody>
          <a:bodyPr wrap="square" lIns="152400" tIns="101600" rIns="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Non-Euclidean distances</a:t>
            </a:r>
            <a:endParaRPr lang="en-US" sz="1500" dirty="0"/>
          </a:p>
        </p:txBody>
      </p:sp>
      <p:sp>
        <p:nvSpPr>
          <p:cNvPr id="8" name="Text 6"/>
          <p:cNvSpPr/>
          <p:nvPr/>
        </p:nvSpPr>
        <p:spPr>
          <a:xfrm>
            <a:off x="660400" y="2026927"/>
            <a:ext cx="5441696"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The paper’s theorems assume Euclidean point clouds. We rely on its empirical results for finite metric spaces instead of its proofs.</a:t>
            </a:r>
            <a:endParaRPr lang="en-US" sz="1350" dirty="0"/>
          </a:p>
        </p:txBody>
      </p:sp>
      <p:sp>
        <p:nvSpPr>
          <p:cNvPr id="9" name="Text 7"/>
          <p:cNvSpPr/>
          <p:nvPr/>
        </p:nvSpPr>
        <p:spPr>
          <a:xfrm>
            <a:off x="6197600" y="1455427"/>
            <a:ext cx="5384800" cy="469900"/>
          </a:xfrm>
          <a:prstGeom prst="rect">
            <a:avLst/>
          </a:prstGeom>
          <a:solidFill>
            <a:srgbClr val="003594"/>
          </a:solidFill>
          <a:ln/>
        </p:spPr>
        <p:txBody>
          <a:bodyPr wrap="square" lIns="152400" tIns="101600" rIns="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Uniform sampling misses rare vehicles</a:t>
            </a:r>
            <a:endParaRPr lang="en-US" sz="1500" dirty="0"/>
          </a:p>
        </p:txBody>
      </p:sp>
      <p:sp>
        <p:nvSpPr>
          <p:cNvPr id="10" name="Text 8"/>
          <p:cNvSpPr/>
          <p:nvPr/>
        </p:nvSpPr>
        <p:spPr>
          <a:xfrm>
            <a:off x="6248400" y="2026927"/>
            <a:ext cx="5441696"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Unusual vehicles rarely land in a subsample, so small or rare structures may not appear in our PH. Mapper still sees every vehicle.</a:t>
            </a:r>
            <a:endParaRPr lang="en-US" sz="1350" dirty="0"/>
          </a:p>
        </p:txBody>
      </p:sp>
      <p:sp>
        <p:nvSpPr>
          <p:cNvPr id="11" name="Text 9"/>
          <p:cNvSpPr/>
          <p:nvPr/>
        </p:nvSpPr>
        <p:spPr>
          <a:xfrm>
            <a:off x="609600" y="2710185"/>
            <a:ext cx="5384800" cy="469900"/>
          </a:xfrm>
          <a:prstGeom prst="rect">
            <a:avLst/>
          </a:prstGeom>
          <a:solidFill>
            <a:srgbClr val="003594"/>
          </a:solidFill>
          <a:ln/>
        </p:spPr>
        <p:txBody>
          <a:bodyPr wrap="square" lIns="152400" tIns="101600" rIns="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Missing values in Gower</a:t>
            </a:r>
            <a:endParaRPr lang="en-US" sz="1500" dirty="0"/>
          </a:p>
        </p:txBody>
      </p:sp>
      <p:sp>
        <p:nvSpPr>
          <p:cNvPr id="12" name="Text 10"/>
          <p:cNvSpPr/>
          <p:nvPr/>
        </p:nvSpPr>
        <p:spPr>
          <a:xfrm>
            <a:off x="660400" y="3281685"/>
            <a:ext cx="5441696" cy="74549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Gower skips features missing in either vehicle. Pairs that share few non-missing features get less reliable distances, so we report how many pairs fall below a floor.</a:t>
            </a:r>
            <a:endParaRPr lang="en-US" sz="1350" dirty="0"/>
          </a:p>
        </p:txBody>
      </p:sp>
      <p:sp>
        <p:nvSpPr>
          <p:cNvPr id="13" name="Text 11"/>
          <p:cNvSpPr/>
          <p:nvPr/>
        </p:nvSpPr>
        <p:spPr>
          <a:xfrm>
            <a:off x="6197600" y="2710185"/>
            <a:ext cx="5384800" cy="469900"/>
          </a:xfrm>
          <a:prstGeom prst="rect">
            <a:avLst/>
          </a:prstGeom>
          <a:solidFill>
            <a:srgbClr val="003594"/>
          </a:solidFill>
          <a:ln/>
        </p:spPr>
        <p:txBody>
          <a:bodyPr wrap="square" lIns="152400" tIns="101600" rIns="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Data regularity</a:t>
            </a:r>
            <a:endParaRPr lang="en-US" sz="1500" dirty="0"/>
          </a:p>
        </p:txBody>
      </p:sp>
      <p:sp>
        <p:nvSpPr>
          <p:cNvPr id="14" name="Text 12"/>
          <p:cNvSpPr/>
          <p:nvPr/>
        </p:nvSpPr>
        <p:spPr>
          <a:xfrm>
            <a:off x="6248400" y="3281685"/>
            <a:ext cx="5441696"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The paper assumes no region of the data is pathologically sparse. We treat this as reasonable for our dataset without verifying it formally.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594"/>
        </a:solidFill>
      </p:bgPr>
    </p:bg>
    <p:spTree>
      <p:nvGrpSpPr>
        <p:cNvPr id="1" name=""/>
        <p:cNvGrpSpPr/>
        <p:nvPr/>
      </p:nvGrpSpPr>
      <p:grpSpPr>
        <a:xfrm>
          <a:off x="0" y="0"/>
          <a:ext cx="0" cy="0"/>
          <a:chOff x="0" y="0"/>
          <a:chExt cx="0" cy="0"/>
        </a:xfrm>
      </p:grpSpPr>
      <p:sp>
        <p:nvSpPr>
          <p:cNvPr id="2" name="Text 0"/>
          <p:cNvSpPr/>
          <p:nvPr>
            <p:ph type="title"/>
          </p:nvPr>
        </p:nvSpPr>
        <p:spPr>
          <a:xfrm>
            <a:off x="1016000" y="2487935"/>
            <a:ext cx="10464800"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FFFFF"/>
                </a:solidFill>
                <a:latin typeface="Lato" pitchFamily="34" charset="0"/>
                <a:ea typeface="Lato" pitchFamily="34" charset="-122"/>
                <a:cs typeface="Lato" pitchFamily="34" charset="-120"/>
              </a:rPr>
              <a:t>Web Application</a:t>
            </a:r>
            <a:endParaRPr lang="en-US" sz="4800" dirty="0"/>
          </a:p>
        </p:txBody>
      </p:sp>
      <p:pic>
        <p:nvPicPr>
          <p:cNvPr id="3" name="Image 0" descr="line">    </p:cNvPr>
          <p:cNvPicPr>
            <a:picLocks noChangeAspect="1"/>
          </p:cNvPicPr>
          <p:nvPr/>
        </p:nvPicPr>
        <p:blipFill>
          <a:blip r:embed="rId1"/>
          <a:srcRect l="0" r="0" t="0" b="0"/>
          <a:stretch/>
        </p:blipFill>
        <p:spPr>
          <a:xfrm>
            <a:off x="1016000" y="3336292"/>
            <a:ext cx="1778000" cy="38100"/>
          </a:xfrm>
          <a:prstGeom prst="rect">
            <a:avLst/>
          </a:prstGeom>
        </p:spPr>
      </p:pic>
      <p:sp>
        <p:nvSpPr>
          <p:cNvPr id="4" name="Text 1"/>
          <p:cNvSpPr/>
          <p:nvPr/>
        </p:nvSpPr>
        <p:spPr>
          <a:xfrm>
            <a:off x="1016000" y="3552192"/>
            <a:ext cx="1046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C72C"/>
                </a:solidFill>
                <a:latin typeface="Lato" pitchFamily="34" charset="0"/>
                <a:ea typeface="Lato" pitchFamily="34" charset="-122"/>
                <a:cs typeface="Lato" pitchFamily="34" charset="-120"/>
              </a:rPr>
              <a:t>Implementation methods and interface mockup</a:t>
            </a:r>
            <a:endParaRPr lang="en-US" sz="2000" dirty="0"/>
          </a:p>
        </p:txBody>
      </p:sp>
      <p:sp>
        <p:nvSpPr>
          <p:cNvPr id="5" name="Text 2"/>
          <p:cNvSpPr/>
          <p:nvPr/>
        </p:nvSpPr>
        <p:spPr>
          <a:xfrm>
            <a:off x="1016000" y="4085592"/>
            <a:ext cx="10464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Lato" pitchFamily="34" charset="0"/>
                <a:ea typeface="Lato" pitchFamily="34" charset="-122"/>
                <a:cs typeface="Lato" pitchFamily="34" charset="-120"/>
              </a:rPr>
              <a:t>[Presenter name]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Web Application Mockup</a:t>
            </a:r>
            <a:endParaRPr lang="en-US" sz="3600" dirty="0"/>
          </a:p>
        </p:txBody>
      </p:sp>
      <p:sp>
        <p:nvSpPr>
          <p:cNvPr id="6" name="Text 4"/>
          <p:cNvSpPr/>
          <p:nvPr/>
        </p:nvSpPr>
        <p:spPr>
          <a:xfrm>
            <a:off x="609600" y="960127"/>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[Subtitle]</a:t>
            </a:r>
            <a:endParaRPr lang="en-US" sz="1500" dirty="0"/>
          </a:p>
        </p:txBody>
      </p:sp>
      <p:sp>
        <p:nvSpPr>
          <p:cNvPr id="7" name="Text 5"/>
          <p:cNvSpPr/>
          <p:nvPr/>
        </p:nvSpPr>
        <p:spPr>
          <a:xfrm>
            <a:off x="619125" y="1363352"/>
            <a:ext cx="10953750" cy="4532630"/>
          </a:xfrm>
          <a:prstGeom prst="rect">
            <a:avLst/>
          </a:prstGeom>
          <a:solidFill>
            <a:srgbClr val="F4F6FB"/>
          </a:solidFill>
          <a:ln w="19050">
            <a:solidFill>
              <a:srgbClr val="003594"/>
            </a:solidFill>
            <a:prstDash val="dash"/>
          </a:ln>
        </p:spPr>
        <p:txBody>
          <a:bodyPr wrap="square" lIns="8255" tIns="8255" rIns="8255" bIns="8255" rtlCol="0" anchor="ctr">
            <a:normAutofit/>
          </a:bodyPr>
          <a:lstStyle/>
          <a:p>
            <a:pPr algn="ctr" indent="0" marL="0">
              <a:lnSpc>
                <a:spcPts val="2240"/>
              </a:lnSpc>
              <a:buNone/>
            </a:pPr>
            <a:r>
              <a:rPr lang="en-US" sz="1600" dirty="0">
                <a:solidFill>
                  <a:srgbClr val="003594"/>
                </a:solidFill>
                <a:latin typeface="Lato" pitchFamily="34" charset="0"/>
                <a:ea typeface="Lato" pitchFamily="34" charset="-122"/>
                <a:cs typeface="Lato" pitchFamily="34" charset="-120"/>
              </a:rPr>
              <a:t>[Mockup screenshots]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FFC72C"/>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Web Implementation Methods</a:t>
            </a:r>
            <a:endParaRPr lang="en-US" sz="3600" dirty="0"/>
          </a:p>
        </p:txBody>
      </p:sp>
      <p:sp>
        <p:nvSpPr>
          <p:cNvPr id="6" name="Text 4"/>
          <p:cNvSpPr/>
          <p:nvPr/>
        </p:nvSpPr>
        <p:spPr>
          <a:xfrm>
            <a:off x="609600" y="960127"/>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[Subtitle]</a:t>
            </a:r>
            <a:endParaRPr lang="en-US" sz="1500" dirty="0"/>
          </a:p>
        </p:txBody>
      </p:sp>
      <p:sp>
        <p:nvSpPr>
          <p:cNvPr id="7" name="Text 5"/>
          <p:cNvSpPr/>
          <p:nvPr/>
        </p:nvSpPr>
        <p:spPr>
          <a:xfrm>
            <a:off x="609600" y="1455427"/>
            <a:ext cx="3522107" cy="469900"/>
          </a:xfrm>
          <a:prstGeom prst="rect">
            <a:avLst/>
          </a:prstGeom>
          <a:solidFill>
            <a:srgbClr val="003594"/>
          </a:solidFill>
          <a:ln/>
        </p:spPr>
        <p:txBody>
          <a:bodyPr wrap="square" lIns="152400" tIns="101600" rIns="55881"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[Heading]</a:t>
            </a:r>
            <a:endParaRPr lang="en-US" sz="1500" dirty="0"/>
          </a:p>
        </p:txBody>
      </p:sp>
      <p:sp>
        <p:nvSpPr>
          <p:cNvPr id="8" name="Text 6"/>
          <p:cNvSpPr/>
          <p:nvPr/>
        </p:nvSpPr>
        <p:spPr>
          <a:xfrm>
            <a:off x="643763" y="2039627"/>
            <a:ext cx="3587511" cy="719772"/>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p:txBody>
      </p:sp>
      <p:sp>
        <p:nvSpPr>
          <p:cNvPr id="9" name="Text 7"/>
          <p:cNvSpPr/>
          <p:nvPr/>
        </p:nvSpPr>
        <p:spPr>
          <a:xfrm>
            <a:off x="4334907" y="1455427"/>
            <a:ext cx="3522147" cy="469900"/>
          </a:xfrm>
          <a:prstGeom prst="rect">
            <a:avLst/>
          </a:prstGeom>
          <a:solidFill>
            <a:srgbClr val="003594"/>
          </a:solidFill>
          <a:ln/>
        </p:spPr>
        <p:txBody>
          <a:bodyPr wrap="square" lIns="152400" tIns="101600" rIns="55880"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[Heading]</a:t>
            </a:r>
            <a:endParaRPr lang="en-US" sz="1500" dirty="0"/>
          </a:p>
        </p:txBody>
      </p:sp>
      <p:sp>
        <p:nvSpPr>
          <p:cNvPr id="10" name="Text 8"/>
          <p:cNvSpPr/>
          <p:nvPr/>
        </p:nvSpPr>
        <p:spPr>
          <a:xfrm>
            <a:off x="4369070" y="2039627"/>
            <a:ext cx="3587552" cy="719772"/>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p:txBody>
      </p:sp>
      <p:sp>
        <p:nvSpPr>
          <p:cNvPr id="11" name="Text 9"/>
          <p:cNvSpPr/>
          <p:nvPr/>
        </p:nvSpPr>
        <p:spPr>
          <a:xfrm>
            <a:off x="8060254" y="1455427"/>
            <a:ext cx="3522107" cy="469900"/>
          </a:xfrm>
          <a:prstGeom prst="rect">
            <a:avLst/>
          </a:prstGeom>
          <a:solidFill>
            <a:srgbClr val="003594"/>
          </a:solidFill>
          <a:ln/>
        </p:spPr>
        <p:txBody>
          <a:bodyPr wrap="square" lIns="152400" tIns="101600" rIns="55881" bIns="76200" rtlCol="0" anchor="t">
            <a:normAutofit/>
          </a:bodyPr>
          <a:lstStyle/>
          <a:p>
            <a:pPr algn="l" indent="0" marL="0">
              <a:lnSpc>
                <a:spcPts val="2100"/>
              </a:lnSpc>
              <a:buNone/>
            </a:pPr>
            <a:r>
              <a:rPr lang="en-US" sz="1500" b="1" dirty="0">
                <a:solidFill>
                  <a:srgbClr val="FFFFFF"/>
                </a:solidFill>
                <a:latin typeface="Lato" pitchFamily="34" charset="0"/>
                <a:ea typeface="Lato" pitchFamily="34" charset="-122"/>
                <a:cs typeface="Lato" pitchFamily="34" charset="-120"/>
              </a:rPr>
              <a:t>[Heading]</a:t>
            </a:r>
            <a:endParaRPr lang="en-US" sz="1500" dirty="0"/>
          </a:p>
        </p:txBody>
      </p:sp>
      <p:sp>
        <p:nvSpPr>
          <p:cNvPr id="12" name="Text 10"/>
          <p:cNvSpPr/>
          <p:nvPr/>
        </p:nvSpPr>
        <p:spPr>
          <a:xfrm>
            <a:off x="8094417" y="2039627"/>
            <a:ext cx="3587511" cy="719772"/>
          </a:xfrm>
          <a:prstGeom prst="rect">
            <a:avLst/>
          </a:prstGeom>
          <a:noFill/>
          <a:ln/>
        </p:spPr>
        <p:txBody>
          <a:bodyPr wrap="square" lIns="0" tIns="0" rIns="0" bIns="0" rtlCol="0" anchor="t">
            <a:normAutofit/>
          </a:bodyPr>
          <a:lstStyle/>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a:p>
            <a:pPr algn="l" marL="169037" indent="-169037">
              <a:lnSpc>
                <a:spcPts val="1823"/>
              </a:lnSpc>
              <a:buSzPct val="100000"/>
              <a:buChar char="•"/>
            </a:pPr>
            <a:r>
              <a:rPr lang="en-US" sz="1350" dirty="0">
                <a:solidFill>
                  <a:srgbClr val="001A70"/>
                </a:solidFill>
                <a:latin typeface="Lato" pitchFamily="34" charset="0"/>
                <a:ea typeface="Lato" pitchFamily="34" charset="-122"/>
                <a:cs typeface="Lato" pitchFamily="34" charset="-120"/>
              </a:rPr>
              <a:t>[Point]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Remaining Work</a:t>
            </a:r>
            <a:endParaRPr lang="en-US" sz="3600" dirty="0"/>
          </a:p>
        </p:txBody>
      </p:sp>
      <p:sp>
        <p:nvSpPr>
          <p:cNvPr id="6" name="Text 4"/>
          <p:cNvSpPr/>
          <p:nvPr/>
        </p:nvSpPr>
        <p:spPr>
          <a:xfrm>
            <a:off x="609600" y="960127"/>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7280"/>
                </a:solidFill>
                <a:latin typeface="Lato" pitchFamily="34" charset="0"/>
                <a:ea typeface="Lato" pitchFamily="34" charset="-122"/>
                <a:cs typeface="Lato" pitchFamily="34" charset="-120"/>
              </a:rPr>
              <a:t>Order of work for distances and persistent homology, and the timeline from the proposal</a:t>
            </a:r>
            <a:endParaRPr lang="en-US" sz="1500" dirty="0"/>
          </a:p>
        </p:txBody>
      </p:sp>
      <p:sp>
        <p:nvSpPr>
          <p:cNvPr id="7" name="Text 5"/>
          <p:cNvSpPr/>
          <p:nvPr/>
        </p:nvSpPr>
        <p:spPr>
          <a:xfrm>
            <a:off x="615950" y="141097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1.</a:t>
            </a:r>
            <a:r>
              <a:rPr lang="en-US" sz="1250" dirty="0">
                <a:solidFill>
                  <a:srgbClr val="001A70"/>
                </a:solidFill>
                <a:latin typeface="Lato" pitchFamily="34" charset="0"/>
                <a:ea typeface="Lato" pitchFamily="34" charset="-122"/>
                <a:cs typeface="Lato" pitchFamily="34" charset="-120"/>
              </a:rPr>
              <a:t> Finish cleaning and export the dataset</a:t>
            </a:r>
            <a:endParaRPr lang="en-US" sz="1250" dirty="0"/>
          </a:p>
        </p:txBody>
      </p:sp>
      <p:sp>
        <p:nvSpPr>
          <p:cNvPr id="8" name="Text 6"/>
          <p:cNvSpPr/>
          <p:nvPr/>
        </p:nvSpPr>
        <p:spPr>
          <a:xfrm>
            <a:off x="2835910" y="141097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2.</a:t>
            </a:r>
            <a:r>
              <a:rPr lang="en-US" sz="1250" dirty="0">
                <a:solidFill>
                  <a:srgbClr val="001A70"/>
                </a:solidFill>
                <a:latin typeface="Lato" pitchFamily="34" charset="0"/>
                <a:ea typeface="Lato" pitchFamily="34" charset="-122"/>
                <a:cs typeface="Lato" pitchFamily="34" charset="-120"/>
              </a:rPr>
              <a:t> Encode inputs and compute ranges</a:t>
            </a:r>
            <a:endParaRPr lang="en-US" sz="1250" dirty="0"/>
          </a:p>
        </p:txBody>
      </p:sp>
      <p:sp>
        <p:nvSpPr>
          <p:cNvPr id="9" name="Text 7"/>
          <p:cNvSpPr/>
          <p:nvPr/>
        </p:nvSpPr>
        <p:spPr>
          <a:xfrm>
            <a:off x="5055870" y="1410977"/>
            <a:ext cx="2080260" cy="628650"/>
          </a:xfrm>
          <a:prstGeom prst="rect">
            <a:avLst/>
          </a:prstGeom>
          <a:noFill/>
          <a:ln w="12700">
            <a:solidFill>
              <a:srgbClr val="003594"/>
            </a:solidFill>
            <a:prstDash val="solid"/>
          </a:ln>
        </p:spPr>
        <p:txBody>
          <a:bodyPr wrap="square" lIns="133350" tIns="107950" rIns="78943" bIns="1079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3.</a:t>
            </a:r>
            <a:r>
              <a:rPr lang="en-US" sz="1250" dirty="0">
                <a:solidFill>
                  <a:srgbClr val="001A70"/>
                </a:solidFill>
                <a:latin typeface="Lato" pitchFamily="34" charset="0"/>
                <a:ea typeface="Lato" pitchFamily="34" charset="-122"/>
                <a:cs typeface="Lato" pitchFamily="34" charset="-120"/>
              </a:rPr>
              <a:t> Time one Gower block</a:t>
            </a:r>
            <a:endParaRPr lang="en-US" sz="1250" dirty="0"/>
          </a:p>
        </p:txBody>
      </p:sp>
      <p:sp>
        <p:nvSpPr>
          <p:cNvPr id="10" name="Text 8"/>
          <p:cNvSpPr/>
          <p:nvPr/>
        </p:nvSpPr>
        <p:spPr>
          <a:xfrm>
            <a:off x="7275830" y="141097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4.</a:t>
            </a:r>
            <a:r>
              <a:rPr lang="en-US" sz="1250" dirty="0">
                <a:solidFill>
                  <a:srgbClr val="001A70"/>
                </a:solidFill>
                <a:latin typeface="Lato" pitchFamily="34" charset="0"/>
                <a:ea typeface="Lato" pitchFamily="34" charset="-122"/>
                <a:cs typeface="Lato" pitchFamily="34" charset="-120"/>
              </a:rPr>
              <a:t> Full matrix with checkpoints</a:t>
            </a:r>
            <a:endParaRPr lang="en-US" sz="1250" dirty="0"/>
          </a:p>
        </p:txBody>
      </p:sp>
      <p:sp>
        <p:nvSpPr>
          <p:cNvPr id="11" name="Text 9"/>
          <p:cNvSpPr/>
          <p:nvPr/>
        </p:nvSpPr>
        <p:spPr>
          <a:xfrm>
            <a:off x="9495790" y="141097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5.</a:t>
            </a:r>
            <a:r>
              <a:rPr lang="en-US" sz="1250" dirty="0">
                <a:solidFill>
                  <a:srgbClr val="001A70"/>
                </a:solidFill>
                <a:latin typeface="Lato" pitchFamily="34" charset="0"/>
                <a:ea typeface="Lato" pitchFamily="34" charset="-122"/>
                <a:cs typeface="Lato" pitchFamily="34" charset="-120"/>
              </a:rPr>
              <a:t> Validate and save the matrix</a:t>
            </a:r>
            <a:endParaRPr lang="en-US" sz="1250" dirty="0"/>
          </a:p>
        </p:txBody>
      </p:sp>
      <p:sp>
        <p:nvSpPr>
          <p:cNvPr id="12" name="Text 10"/>
          <p:cNvSpPr/>
          <p:nvPr/>
        </p:nvSpPr>
        <p:spPr>
          <a:xfrm>
            <a:off x="615950" y="2179327"/>
            <a:ext cx="2080260" cy="628650"/>
          </a:xfrm>
          <a:prstGeom prst="rect">
            <a:avLst/>
          </a:prstGeom>
          <a:noFill/>
          <a:ln w="12700">
            <a:solidFill>
              <a:srgbClr val="003594"/>
            </a:solidFill>
            <a:prstDash val="solid"/>
          </a:ln>
        </p:spPr>
        <p:txBody>
          <a:bodyPr wrap="square" lIns="133350" tIns="107950" rIns="78943" bIns="1079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6.</a:t>
            </a:r>
            <a:r>
              <a:rPr lang="en-US" sz="1250" dirty="0">
                <a:solidFill>
                  <a:srgbClr val="001A70"/>
                </a:solidFill>
                <a:latin typeface="Lato" pitchFamily="34" charset="0"/>
                <a:ea typeface="Lato" pitchFamily="34" charset="-122"/>
                <a:cs typeface="Lato" pitchFamily="34" charset="-120"/>
              </a:rPr>
              <a:t> PH timing test</a:t>
            </a:r>
            <a:endParaRPr lang="en-US" sz="1250" dirty="0"/>
          </a:p>
        </p:txBody>
      </p:sp>
      <p:sp>
        <p:nvSpPr>
          <p:cNvPr id="13" name="Text 11"/>
          <p:cNvSpPr/>
          <p:nvPr/>
        </p:nvSpPr>
        <p:spPr>
          <a:xfrm>
            <a:off x="2835910" y="217932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7.</a:t>
            </a:r>
            <a:r>
              <a:rPr lang="en-US" sz="1250" dirty="0">
                <a:solidFill>
                  <a:srgbClr val="001A70"/>
                </a:solidFill>
                <a:latin typeface="Lato" pitchFamily="34" charset="0"/>
                <a:ea typeface="Lato" pitchFamily="34" charset="-122"/>
                <a:cs typeface="Lato" pitchFamily="34" charset="-120"/>
              </a:rPr>
              <a:t> Subsampling loop with stopping rule</a:t>
            </a:r>
            <a:endParaRPr lang="en-US" sz="1250" dirty="0"/>
          </a:p>
        </p:txBody>
      </p:sp>
      <p:sp>
        <p:nvSpPr>
          <p:cNvPr id="14" name="Text 12"/>
          <p:cNvSpPr/>
          <p:nvPr/>
        </p:nvSpPr>
        <p:spPr>
          <a:xfrm>
            <a:off x="5055870" y="2179327"/>
            <a:ext cx="2080260" cy="628650"/>
          </a:xfrm>
          <a:prstGeom prst="rect">
            <a:avLst/>
          </a:prstGeom>
          <a:noFill/>
          <a:ln w="12700">
            <a:solidFill>
              <a:srgbClr val="003594"/>
            </a:solidFill>
            <a:prstDash val="solid"/>
          </a:ln>
        </p:spPr>
        <p:txBody>
          <a:bodyPr wrap="square" lIns="133350" tIns="107950" rIns="78943" bIns="1079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8.</a:t>
            </a:r>
            <a:r>
              <a:rPr lang="en-US" sz="1250" dirty="0">
                <a:solidFill>
                  <a:srgbClr val="001A70"/>
                </a:solidFill>
                <a:latin typeface="Lato" pitchFamily="34" charset="0"/>
                <a:ea typeface="Lato" pitchFamily="34" charset="-122"/>
                <a:cs typeface="Lato" pitchFamily="34" charset="-120"/>
              </a:rPr>
              <a:t> Aggregate the diagrams</a:t>
            </a:r>
            <a:endParaRPr lang="en-US" sz="1250" dirty="0"/>
          </a:p>
        </p:txBody>
      </p:sp>
      <p:sp>
        <p:nvSpPr>
          <p:cNvPr id="15" name="Text 13"/>
          <p:cNvSpPr/>
          <p:nvPr/>
        </p:nvSpPr>
        <p:spPr>
          <a:xfrm>
            <a:off x="7275830" y="2179327"/>
            <a:ext cx="2080260" cy="628650"/>
          </a:xfrm>
          <a:prstGeom prst="rect">
            <a:avLst/>
          </a:prstGeom>
          <a:noFill/>
          <a:ln w="12700">
            <a:solidFill>
              <a:srgbClr val="003594"/>
            </a:solidFill>
            <a:prstDash val="solid"/>
          </a:ln>
        </p:spPr>
        <p:txBody>
          <a:bodyPr wrap="square" lIns="133350" tIns="107950" rIns="78943" bIns="1079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9.</a:t>
            </a:r>
            <a:r>
              <a:rPr lang="en-US" sz="1250" dirty="0">
                <a:solidFill>
                  <a:srgbClr val="001A70"/>
                </a:solidFill>
                <a:latin typeface="Lato" pitchFamily="34" charset="0"/>
                <a:ea typeface="Lato" pitchFamily="34" charset="-122"/>
                <a:cs typeface="Lato" pitchFamily="34" charset="-120"/>
              </a:rPr>
              <a:t> Robustness rerun</a:t>
            </a:r>
            <a:endParaRPr lang="en-US" sz="1250" dirty="0"/>
          </a:p>
        </p:txBody>
      </p:sp>
      <p:sp>
        <p:nvSpPr>
          <p:cNvPr id="16" name="Text 14"/>
          <p:cNvSpPr/>
          <p:nvPr/>
        </p:nvSpPr>
        <p:spPr>
          <a:xfrm>
            <a:off x="9495790" y="2179327"/>
            <a:ext cx="2080260" cy="628650"/>
          </a:xfrm>
          <a:prstGeom prst="rect">
            <a:avLst/>
          </a:prstGeom>
          <a:noFill/>
          <a:ln w="12700">
            <a:solidFill>
              <a:srgbClr val="003594"/>
            </a:solidFill>
            <a:prstDash val="solid"/>
          </a:ln>
        </p:spPr>
        <p:txBody>
          <a:bodyPr wrap="square" lIns="133350" tIns="107950" rIns="78943" bIns="82550" rtlCol="0" anchor="t">
            <a:normAutofit/>
          </a:bodyPr>
          <a:lstStyle/>
          <a:p>
            <a:pPr algn="l" indent="0" marL="0">
              <a:lnSpc>
                <a:spcPts val="1625"/>
              </a:lnSpc>
              <a:buNone/>
            </a:pPr>
            <a:r>
              <a:rPr lang="en-US" sz="1250" b="1" dirty="0">
                <a:solidFill>
                  <a:srgbClr val="001A70"/>
                </a:solidFill>
                <a:latin typeface="Lato" pitchFamily="34" charset="0"/>
                <a:ea typeface="Lato" pitchFamily="34" charset="-122"/>
                <a:cs typeface="Lato" pitchFamily="34" charset="-120"/>
              </a:rPr>
              <a:t>10.</a:t>
            </a:r>
            <a:r>
              <a:rPr lang="en-US" sz="1250" dirty="0">
                <a:solidFill>
                  <a:srgbClr val="001A70"/>
                </a:solidFill>
                <a:latin typeface="Lato" pitchFamily="34" charset="0"/>
                <a:ea typeface="Lato" pitchFamily="34" charset="-122"/>
                <a:cs typeface="Lato" pitchFamily="34" charset="-120"/>
              </a:rPr>
              <a:t> Pass ε candidates to Mapper</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2300" y="4175125"/>
          <a:ext cx="10960100" cy="1730375"/>
        </p:xfrm>
        <a:graphic>
          <a:graphicData uri="http://schemas.openxmlformats.org/drawingml/2006/table">
            <a:tbl>
              <a:tblPr/>
              <a:tblGrid>
                <a:gridCol w="1753616"/>
                <a:gridCol w="2630424"/>
                <a:gridCol w="6576060"/>
              </a:tblGrid>
              <a:tr h="346075">
                <a:tc>
                  <a:txBody>
                    <a:bodyPr/>
                    <a:lstStyle/>
                    <a:p>
                      <a:pPr indent="0" marL="0">
                        <a:lnSpc>
                          <a:spcPts val="1750"/>
                        </a:lnSpc>
                        <a:buNone/>
                      </a:pPr>
                      <a:r>
                        <a:rPr lang="en-US" sz="1250" b="1" dirty="0">
                          <a:solidFill>
                            <a:srgbClr val="FFFFFF"/>
                          </a:solidFill>
                          <a:latin typeface="Lato" pitchFamily="34" charset="0"/>
                          <a:ea typeface="Lato" pitchFamily="34" charset="-122"/>
                          <a:cs typeface="Lato" pitchFamily="34" charset="-120"/>
                        </a:rPr>
                        <a:t>Months</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750"/>
                        </a:lnSpc>
                        <a:buNone/>
                      </a:pPr>
                      <a:r>
                        <a:rPr lang="en-US" sz="1250" b="1" dirty="0">
                          <a:solidFill>
                            <a:srgbClr val="FFFFFF"/>
                          </a:solidFill>
                          <a:latin typeface="Lato" pitchFamily="34" charset="0"/>
                          <a:ea typeface="Lato" pitchFamily="34" charset="-122"/>
                          <a:cs typeface="Lato" pitchFamily="34" charset="-120"/>
                        </a:rPr>
                        <a:t>Phase</a:t>
                      </a:r>
                      <a:endParaRPr lang="en-US" sz="1250" dirty="0">
                        <a:latin typeface="Lato" charset="0"/>
                        <a:ea typeface="Lato" charset="0"/>
                        <a:cs typeface="Lato" charset="0"/>
                      </a:endParaRPr>
                    </a:p>
                  </a:txBody>
                  <a:tcPr marL="55563" marR="55563" marT="55563" marB="55563"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c>
                  <a:txBody>
                    <a:bodyPr/>
                    <a:lstStyle/>
                    <a:p>
                      <a:pPr indent="0" marL="0">
                        <a:lnSpc>
                          <a:spcPts val="1750"/>
                        </a:lnSpc>
                        <a:buNone/>
                      </a:pPr>
                      <a:r>
                        <a:rPr lang="en-US" sz="1250" b="1" dirty="0">
                          <a:solidFill>
                            <a:srgbClr val="FFFFFF"/>
                          </a:solidFill>
                          <a:latin typeface="Lato" pitchFamily="34" charset="0"/>
                          <a:ea typeface="Lato" pitchFamily="34" charset="-122"/>
                          <a:cs typeface="Lato" pitchFamily="34" charset="-120"/>
                        </a:rPr>
                        <a:t>Activities</a:t>
                      </a:r>
                      <a:endParaRPr lang="en-US" sz="1250" dirty="0">
                        <a:latin typeface="Lato" charset="0"/>
                        <a:ea typeface="Lato" charset="0"/>
                        <a:cs typeface="Lato" charset="0"/>
                      </a:endParaRPr>
                    </a:p>
                  </a:txBody>
                  <a:tcPr marL="55563" marR="55563" marT="55563" marB="55563" anchor="t">
                    <a:lnL w="12700" cap="flat" cmpd="sng" algn="ctr">
                      <a:solidFill>
                        <a:srgbClr val="042E78"/>
                      </a:solidFill>
                      <a:prstDash val="solid"/>
                      <a:round/>
                      <a:headEnd type="none" w="med" len="med"/>
                      <a:tailEnd type="none" w="med" len="med"/>
                    </a:lnL>
                    <a:lnR w="12700" cap="flat" cmpd="sng" algn="ctr">
                      <a:solidFill>
                        <a:srgbClr val="042E7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2E78"/>
                      </a:solidFill>
                      <a:prstDash val="solid"/>
                      <a:round/>
                      <a:headEnd type="none" w="med" len="med"/>
                      <a:tailEnd type="none" w="med" len="med"/>
                    </a:lnB>
                    <a:solidFill>
                      <a:srgbClr val="003594"/>
                    </a:solidFill>
                  </a:tcPr>
                </a:tc>
              </a:tr>
              <a:tr h="346075">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Nov – Dec</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Data and distances</a:t>
                      </a:r>
                      <a:endParaRPr lang="en-US" sz="1250" dirty="0">
                        <a:latin typeface="Lato" charset="0"/>
                        <a:ea typeface="Lato" charset="0"/>
                        <a:cs typeface="Lato" charset="0"/>
                      </a:endParaRPr>
                    </a:p>
                  </a:txBody>
                  <a:tcPr marL="55563" marR="55563" marT="55563" marB="55563"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Finish cleaning, build the Gower distance matrix, produce first persistence diagrams</a:t>
                      </a:r>
                      <a:endParaRPr lang="en-US" sz="1250" dirty="0">
                        <a:latin typeface="Lato" charset="0"/>
                        <a:ea typeface="Lato" charset="0"/>
                        <a:cs typeface="Lato" charset="0"/>
                      </a:endParaRPr>
                    </a:p>
                  </a:txBody>
                  <a:tcPr marL="55563" marR="55563" marT="55563" marB="55563"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042E78"/>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46075">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Jan – Feb</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Mapper and tuning</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Build the Mapper pipeline, tune parameters and evaluate results</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6075">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Mar – Apr</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Web application</a:t>
                      </a:r>
                      <a:endParaRPr lang="en-US" sz="1250" dirty="0">
                        <a:latin typeface="Lato" charset="0"/>
                        <a:ea typeface="Lato" charset="0"/>
                        <a:cs typeface="Lato" charset="0"/>
                      </a:endParaRPr>
                    </a:p>
                  </a:txBody>
                  <a:tcPr marL="55563" marR="55563" marT="55563" marB="55563"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Build the interactive network and integrate it with the pipeline</a:t>
                      </a:r>
                      <a:endParaRPr lang="en-US" sz="1250" dirty="0">
                        <a:latin typeface="Lato" charset="0"/>
                        <a:ea typeface="Lato" charset="0"/>
                        <a:cs typeface="Lato" charset="0"/>
                      </a:endParaRPr>
                    </a:p>
                  </a:txBody>
                  <a:tcPr marL="55563" marR="55563" marT="55563" marB="55563" anchor="t">
                    <a:lnL w="12700" cap="flat" cmpd="sng" algn="ctr">
                      <a:solidFill>
                        <a:srgbClr val="C3C4C8"/>
                      </a:solidFill>
                      <a:prstDash val="solid"/>
                      <a:round/>
                      <a:headEnd type="none" w="med" len="med"/>
                      <a:tailEnd type="none" w="med" len="med"/>
                    </a:lnL>
                    <a:lnR w="12700" cap="flat" cmpd="sng" algn="ctr">
                      <a:solidFill>
                        <a:srgbClr val="C3C4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8"/>
                      </a:solidFill>
                      <a:prstDash val="solid"/>
                      <a:round/>
                      <a:headEnd type="none" w="med" len="med"/>
                      <a:tailEnd type="none" w="med" len="med"/>
                    </a:lnB>
                    <a:solidFill>
                      <a:srgbClr val="F4F6FB"/>
                    </a:solidFill>
                  </a:tcPr>
                </a:tc>
              </a:tr>
              <a:tr h="346075">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May</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Testing and final</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001A70"/>
                          </a:solidFill>
                          <a:latin typeface="Lato" pitchFamily="34" charset="0"/>
                          <a:ea typeface="Lato" pitchFamily="34" charset="-122"/>
                          <a:cs typeface="Lato" pitchFamily="34" charset="-120"/>
                        </a:rPr>
                        <a:t>Test, refine and present</a:t>
                      </a:r>
                      <a:endParaRPr lang="en-US" sz="1250" dirty="0">
                        <a:latin typeface="Lato" charset="0"/>
                        <a:ea typeface="Lato" charset="0"/>
                        <a:cs typeface="Lat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9400"/>
            <a:ext cx="215900" cy="825500"/>
          </a:xfrm>
          <a:prstGeom prst="rect">
            <a:avLst/>
          </a:prstGeom>
          <a:solidFill>
            <a:srgbClr val="003594"/>
          </a:solidFill>
          <a:ln/>
        </p:spPr>
      </p:sp>
      <p:sp>
        <p:nvSpPr>
          <p:cNvPr id="3" name="Shape 1"/>
          <p:cNvSpPr/>
          <p:nvPr/>
        </p:nvSpPr>
        <p:spPr>
          <a:xfrm>
            <a:off x="0" y="6718300"/>
            <a:ext cx="12192000" cy="139700"/>
          </a:xfrm>
          <a:prstGeom prst="rect">
            <a:avLst/>
          </a:prstGeom>
          <a:solidFill>
            <a:srgbClr val="003594"/>
          </a:solidFill>
          <a:ln/>
        </p:spPr>
      </p:sp>
      <p:sp>
        <p:nvSpPr>
          <p:cNvPr id="4" name="Text 2"/>
          <p:cNvSpPr/>
          <p:nvPr/>
        </p:nvSpPr>
        <p:spPr>
          <a:xfrm>
            <a:off x="609600" y="6365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Lato" pitchFamily="34" charset="0"/>
                <a:ea typeface="Lato" pitchFamily="34" charset="-122"/>
                <a:cs typeface="Lato" pitchFamily="34" charset="-120"/>
              </a:rPr>
              <a:t>Topological Data Analysis of Automotive Design | CSU Bakersfield</a:t>
            </a:r>
            <a:endParaRPr lang="en-US" sz="1200" dirty="0"/>
          </a:p>
        </p:txBody>
      </p:sp>
      <p:sp>
        <p:nvSpPr>
          <p:cNvPr id="5" name="Text 3"/>
          <p:cNvSpPr/>
          <p:nvPr>
            <p:ph type="title"/>
          </p:nvPr>
        </p:nvSpPr>
        <p:spPr>
          <a:xfrm>
            <a:off x="445008" y="330200"/>
            <a:ext cx="11301984"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003594"/>
                </a:solidFill>
                <a:latin typeface="Lato" pitchFamily="34" charset="0"/>
                <a:ea typeface="Lato" pitchFamily="34" charset="-122"/>
                <a:cs typeface="Lato" pitchFamily="34" charset="-120"/>
              </a:rPr>
              <a:t>References</a:t>
            </a:r>
            <a:endParaRPr lang="en-US" sz="3600" dirty="0"/>
          </a:p>
        </p:txBody>
      </p:sp>
      <p:sp>
        <p:nvSpPr>
          <p:cNvPr id="6" name="Text 4"/>
          <p:cNvSpPr/>
          <p:nvPr/>
        </p:nvSpPr>
        <p:spPr>
          <a:xfrm>
            <a:off x="609600" y="1163327"/>
            <a:ext cx="11301984"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Cao, Y. and Monod, A. Approximating Persistent Homology for Large Datasets. arXiv:2204.09155v3 [stat.ML], January 2026. Code: github.com/YueqiCao/PD-subsample.</a:t>
            </a:r>
            <a:endParaRPr lang="en-US" sz="1350" dirty="0"/>
          </a:p>
        </p:txBody>
      </p:sp>
      <p:sp>
        <p:nvSpPr>
          <p:cNvPr id="7" name="Text 5"/>
          <p:cNvSpPr/>
          <p:nvPr/>
        </p:nvSpPr>
        <p:spPr>
          <a:xfrm>
            <a:off x="609600" y="1795785"/>
            <a:ext cx="11301984"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Chazal, F., Fasy, B., Lecci, F., Michel, B., Rinaldo, A., and Wasserman, L. Subsampling Methods for Persistent Homology. Proceedings of the 32nd International Conference on Machine Learning (ICML), 2015.</a:t>
            </a:r>
            <a:endParaRPr lang="en-US" sz="1350" dirty="0"/>
          </a:p>
        </p:txBody>
      </p:sp>
      <p:sp>
        <p:nvSpPr>
          <p:cNvPr id="8" name="Text 6"/>
          <p:cNvSpPr/>
          <p:nvPr/>
        </p:nvSpPr>
        <p:spPr>
          <a:xfrm>
            <a:off x="609600" y="2428242"/>
            <a:ext cx="1130198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Gower, J. C. A General Coefficient of Similarity and Some of Its Properties. Biometrics, 27(4), 857–871, 1971.</a:t>
            </a:r>
            <a:endParaRPr lang="en-US" sz="1350" dirty="0"/>
          </a:p>
        </p:txBody>
      </p:sp>
      <p:sp>
        <p:nvSpPr>
          <p:cNvPr id="9" name="Text 7"/>
          <p:cNvSpPr/>
          <p:nvPr/>
        </p:nvSpPr>
        <p:spPr>
          <a:xfrm>
            <a:off x="609600" y="2820677"/>
            <a:ext cx="1130198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Tralie, C., Saul, N., and Bar-On, R. Ripser.py: A Lean Persistent Homology Library for Python. Journal of Open Source Software, 3(29), 925, 2018.</a:t>
            </a:r>
            <a:endParaRPr lang="en-US" sz="1350" dirty="0"/>
          </a:p>
        </p:txBody>
      </p:sp>
      <p:sp>
        <p:nvSpPr>
          <p:cNvPr id="10" name="Text 8"/>
          <p:cNvSpPr/>
          <p:nvPr/>
        </p:nvSpPr>
        <p:spPr>
          <a:xfrm>
            <a:off x="609600" y="3213100"/>
            <a:ext cx="1130198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Opendatabay. Vehicle specifications dataset. Opendatabay.com.</a:t>
            </a:r>
            <a:endParaRPr lang="en-US" sz="1350" dirty="0"/>
          </a:p>
        </p:txBody>
      </p:sp>
      <p:sp>
        <p:nvSpPr>
          <p:cNvPr id="11" name="Text 9"/>
          <p:cNvSpPr/>
          <p:nvPr/>
        </p:nvSpPr>
        <p:spPr>
          <a:xfrm>
            <a:off x="609600" y="3605535"/>
            <a:ext cx="11301984"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001A70"/>
                </a:solidFill>
                <a:latin typeface="Lato" pitchFamily="34" charset="0"/>
                <a:ea typeface="Lato" pitchFamily="34" charset="-122"/>
                <a:cs typeface="Lato" pitchFamily="34" charset="-120"/>
              </a:rPr>
              <a:t>Software: R (dplyr), Python (NumPy, pandas, joblib, numba), Ripser.py, GUDHI, POT (Python Optimal Transport), KeplerMapper.</a:t>
            </a:r>
            <a:endParaRPr lang="en-US" sz="1350" dirty="0"/>
          </a:p>
        </p:txBody>
      </p:sp>
    </p:spTree>
  </p:cSld>
  <p:clrMapOvr>
    <a:masterClrMapping/>
  </p:clrMapOvr>
</p:sld>
</file>

<file path=ppt/theme/theme1.xml><?xml version="1.0" encoding="utf-8"?>
<a:theme xmlns:a="http://schemas.openxmlformats.org/drawingml/2006/main" name="Senior Project Progress Report">
  <a:themeElements>
    <a:clrScheme name="Senior Project Progress Report">
      <a:dk1>
        <a:srgbClr val="001A70"/>
      </a:dk1>
      <a:lt1>
        <a:srgbClr val="FFFFFF"/>
      </a:lt1>
      <a:dk2>
        <a:srgbClr val="405394"/>
      </a:dk2>
      <a:lt2>
        <a:srgbClr val="E6E8F1"/>
      </a:lt2>
      <a:accent1>
        <a:srgbClr val="003594"/>
      </a:accent1>
      <a:accent2>
        <a:srgbClr val="FFC72C"/>
      </a:accent2>
      <a:accent3>
        <a:srgbClr val="F5E6BD"/>
      </a:accent3>
      <a:accent4>
        <a:srgbClr val="6B7280"/>
      </a:accent4>
      <a:accent5>
        <a:srgbClr val="4B5563"/>
      </a:accent5>
      <a:accent6>
        <a:srgbClr val="9AA0A6"/>
      </a:accent6>
      <a:hlink>
        <a:srgbClr val="0563C1"/>
      </a:hlink>
      <a:folHlink>
        <a:srgbClr val="954F72"/>
      </a:folHlink>
    </a:clrScheme>
    <a:fontScheme name="Senior Project Progress Report">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Senior Project Progress Report</dc:title>
  <dc:subject/>
  <dc:creator/>
  <cp:lastModifiedBy/>
  <cp:revision>1</cp:revision>
  <dcterms:created xsi:type="dcterms:W3CDTF">2026-10-17T20:38:45Z</dcterms:created>
  <dcterms:modified xsi:type="dcterms:W3CDTF">2026-10-17T20:38:45Z</dcterms:modified>
</cp:coreProperties>
</file>